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12192000"/>
  <p:embeddedFontLst>
    <p:embeddedFont>
      <p:font typeface="Alimama ShuHeiTi" charset="-122"/>
      <p:regular r:id="rId20"/>
    </p:embeddedFont>
    <p:embeddedFont>
      <p:font typeface="Hedvig Letters Sans" panose="020B0604020202020204" charset="0"/>
      <p:regular r:id="rId21"/>
    </p:embeddedFont>
    <p:embeddedFont>
      <p:font typeface="Liter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87D52E-0BB7-4C21-B5FE-1A14195C104F}" v="1" dt="2026-04-02T06:52:46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am Gopi" userId="713e0a06b9f79973" providerId="LiveId" clId="{3B91A644-BFD5-429B-A898-85DD62ED8DFE}"/>
    <pc:docChg chg="undo custSel modSld">
      <pc:chgData name="Pasam Gopi" userId="713e0a06b9f79973" providerId="LiveId" clId="{3B91A644-BFD5-429B-A898-85DD62ED8DFE}" dt="2026-04-02T06:52:53.530" v="15" actId="478"/>
      <pc:docMkLst>
        <pc:docMk/>
      </pc:docMkLst>
      <pc:sldChg chg="modSp mod">
        <pc:chgData name="Pasam Gopi" userId="713e0a06b9f79973" providerId="LiveId" clId="{3B91A644-BFD5-429B-A898-85DD62ED8DFE}" dt="2026-04-01T18:26:02.754" v="4" actId="1076"/>
        <pc:sldMkLst>
          <pc:docMk/>
          <pc:sldMk cId="0" sldId="256"/>
        </pc:sldMkLst>
        <pc:spChg chg="mod">
          <ac:chgData name="Pasam Gopi" userId="713e0a06b9f79973" providerId="LiveId" clId="{3B91A644-BFD5-429B-A898-85DD62ED8DFE}" dt="2026-04-01T18:20:05.718" v="1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Pasam Gopi" userId="713e0a06b9f79973" providerId="LiveId" clId="{3B91A644-BFD5-429B-A898-85DD62ED8DFE}" dt="2026-04-01T18:19:57.946" v="0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Pasam Gopi" userId="713e0a06b9f79973" providerId="LiveId" clId="{3B91A644-BFD5-429B-A898-85DD62ED8DFE}" dt="2026-04-01T18:26:02.754" v="4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Pasam Gopi" userId="713e0a06b9f79973" providerId="LiveId" clId="{3B91A644-BFD5-429B-A898-85DD62ED8DFE}" dt="2026-04-01T18:20:40.619" v="3" actId="1076"/>
          <ac:spMkLst>
            <pc:docMk/>
            <pc:sldMk cId="0" sldId="256"/>
            <ac:spMk id="25" creationId="{00000000-0000-0000-0000-000000000000}"/>
          </ac:spMkLst>
        </pc:spChg>
      </pc:sldChg>
      <pc:sldChg chg="modSp mod">
        <pc:chgData name="Pasam Gopi" userId="713e0a06b9f79973" providerId="LiveId" clId="{3B91A644-BFD5-429B-A898-85DD62ED8DFE}" dt="2026-04-02T03:18:18.200" v="9" actId="20577"/>
        <pc:sldMkLst>
          <pc:docMk/>
          <pc:sldMk cId="0" sldId="258"/>
        </pc:sldMkLst>
        <pc:spChg chg="mod">
          <ac:chgData name="Pasam Gopi" userId="713e0a06b9f79973" providerId="LiveId" clId="{3B91A644-BFD5-429B-A898-85DD62ED8DFE}" dt="2026-04-02T03:18:18.200" v="9" actId="20577"/>
          <ac:spMkLst>
            <pc:docMk/>
            <pc:sldMk cId="0" sldId="258"/>
            <ac:spMk id="29" creationId="{00000000-0000-0000-0000-000000000000}"/>
          </ac:spMkLst>
        </pc:spChg>
      </pc:sldChg>
      <pc:sldChg chg="delSp modSp mod">
        <pc:chgData name="Pasam Gopi" userId="713e0a06b9f79973" providerId="LiveId" clId="{3B91A644-BFD5-429B-A898-85DD62ED8DFE}" dt="2026-04-02T06:52:53.530" v="15" actId="478"/>
        <pc:sldMkLst>
          <pc:docMk/>
          <pc:sldMk cId="0" sldId="263"/>
        </pc:sldMkLst>
        <pc:spChg chg="mod">
          <ac:chgData name="Pasam Gopi" userId="713e0a06b9f79973" providerId="LiveId" clId="{3B91A644-BFD5-429B-A898-85DD62ED8DFE}" dt="2026-04-02T03:39:29.729" v="11" actId="20577"/>
          <ac:spMkLst>
            <pc:docMk/>
            <pc:sldMk cId="0" sldId="263"/>
            <ac:spMk id="34" creationId="{00000000-0000-0000-0000-000000000000}"/>
          </ac:spMkLst>
        </pc:spChg>
        <pc:spChg chg="del">
          <ac:chgData name="Pasam Gopi" userId="713e0a06b9f79973" providerId="LiveId" clId="{3B91A644-BFD5-429B-A898-85DD62ED8DFE}" dt="2026-04-02T06:52:50.968" v="14" actId="478"/>
          <ac:spMkLst>
            <pc:docMk/>
            <pc:sldMk cId="0" sldId="263"/>
            <ac:spMk id="42" creationId="{00000000-0000-0000-0000-000000000000}"/>
          </ac:spMkLst>
        </pc:spChg>
        <pc:spChg chg="del">
          <ac:chgData name="Pasam Gopi" userId="713e0a06b9f79973" providerId="LiveId" clId="{3B91A644-BFD5-429B-A898-85DD62ED8DFE}" dt="2026-04-02T06:52:48.478" v="13" actId="478"/>
          <ac:spMkLst>
            <pc:docMk/>
            <pc:sldMk cId="0" sldId="263"/>
            <ac:spMk id="43" creationId="{00000000-0000-0000-0000-000000000000}"/>
          </ac:spMkLst>
        </pc:spChg>
        <pc:spChg chg="del">
          <ac:chgData name="Pasam Gopi" userId="713e0a06b9f79973" providerId="LiveId" clId="{3B91A644-BFD5-429B-A898-85DD62ED8DFE}" dt="2026-04-02T06:52:53.530" v="15" actId="478"/>
          <ac:spMkLst>
            <pc:docMk/>
            <pc:sldMk cId="0" sldId="263"/>
            <ac:spMk id="44" creationId="{00000000-0000-0000-0000-000000000000}"/>
          </ac:spMkLst>
        </pc:spChg>
        <pc:picChg chg="del">
          <ac:chgData name="Pasam Gopi" userId="713e0a06b9f79973" providerId="LiveId" clId="{3B91A644-BFD5-429B-A898-85DD62ED8DFE}" dt="2026-04-02T06:52:46.718" v="12" actId="478"/>
          <ac:picMkLst>
            <pc:docMk/>
            <pc:sldMk cId="0" sldId="263"/>
            <ac:picMk id="102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034EC-AFBE-4793-ABE1-5F01F268E66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97FD6-38F9-42E6-8E12-BFE994665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481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7bb355fdab3f05e17564e876605ef0b66ffc2cc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333" r="33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2252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6" name="Text 3"/>
          <p:cNvSpPr/>
          <p:nvPr/>
        </p:nvSpPr>
        <p:spPr>
          <a:xfrm>
            <a:off x="5145981" y="1190625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32236" y="714375"/>
            <a:ext cx="7524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AI Generated Image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Detection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381250" y="268605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14713" y="542607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37312" y="542607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049518" y="5426075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0" y="0"/>
            <a:ext cx="762000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Rectangle 18"/>
          <p:cNvSpPr/>
          <p:nvPr/>
        </p:nvSpPr>
        <p:spPr>
          <a:xfrm>
            <a:off x="3811935" y="2667000"/>
            <a:ext cx="456813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itchFamily="18" charset="0"/>
                <a:ea typeface="Liter" pitchFamily="34" charset="-122"/>
                <a:cs typeface="Times New Roman" pitchFamily="18" charset="0"/>
              </a:rPr>
              <a:t>Under the Guidance of </a:t>
            </a: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itchFamily="18" charset="0"/>
                <a:ea typeface="Liter" pitchFamily="34" charset="-122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itchFamily="18" charset="0"/>
                <a:ea typeface="Liter" pitchFamily="34" charset="-122"/>
                <a:cs typeface="Times New Roman" pitchFamily="18" charset="0"/>
              </a:rPr>
              <a:t>Mr.V</a:t>
            </a:r>
            <a:r>
              <a:rPr lang="en-US" b="1" dirty="0">
                <a:solidFill>
                  <a:schemeClr val="bg1"/>
                </a:solidFill>
                <a:latin typeface="Times New Roman" pitchFamily="18" charset="0"/>
                <a:ea typeface="Liter" pitchFamily="34" charset="-122"/>
                <a:cs typeface="Times New Roman" pitchFamily="18" charset="0"/>
              </a:rPr>
              <a:t>. </a:t>
            </a:r>
            <a:r>
              <a:rPr lang="en-US" b="1" dirty="0" err="1">
                <a:solidFill>
                  <a:schemeClr val="bg1"/>
                </a:solidFill>
                <a:latin typeface="Times New Roman" pitchFamily="18" charset="0"/>
                <a:ea typeface="Liter" pitchFamily="34" charset="-122"/>
                <a:cs typeface="Times New Roman" pitchFamily="18" charset="0"/>
              </a:rPr>
              <a:t>Roshan</a:t>
            </a:r>
            <a:r>
              <a:rPr lang="en-US" b="1" dirty="0">
                <a:solidFill>
                  <a:schemeClr val="bg1"/>
                </a:solidFill>
                <a:latin typeface="Times New Roman" pitchFamily="18" charset="0"/>
                <a:ea typeface="Liter" pitchFamily="34" charset="-122"/>
                <a:cs typeface="Times New Roman" pitchFamily="18" charset="0"/>
              </a:rPr>
              <a:t> Kumar – Assistant Professor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256562" y="3556000"/>
            <a:ext cx="3873500" cy="469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Team Members :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421886" y="4025900"/>
            <a:ext cx="32258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S.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Susmitha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Y22ACM478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599168" y="4470400"/>
            <a:ext cx="32258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V. Naga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Pujitha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Y22ACM485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99168" y="4920117"/>
            <a:ext cx="32258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P.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Gopi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Chand – Y22ACM463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24974" y="5381625"/>
            <a:ext cx="32258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Y.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Surendra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L23ACM502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1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latin typeface="Times New Roman" pitchFamily="18" charset="0"/>
                <a:ea typeface="Hedvig Letters Sans" pitchFamily="34" charset="-122"/>
                <a:cs typeface="Times New Roman" pitchFamily="18" charset="0"/>
              </a:rPr>
              <a:t>Contents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9E0"/>
              </a:gs>
              <a:gs pos="100000">
                <a:srgbClr val="38B2AC"/>
              </a:gs>
            </a:gsLst>
            <a:lin ang="0" scaled="1"/>
          </a:gradFill>
          <a:ln/>
        </p:spPr>
      </p:sp>
      <p:sp>
        <p:nvSpPr>
          <p:cNvPr id="33" name="Shape 3"/>
          <p:cNvSpPr/>
          <p:nvPr/>
        </p:nvSpPr>
        <p:spPr>
          <a:xfrm>
            <a:off x="384175" y="19653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00A9E0">
              <a:alpha val="14902"/>
            </a:srgbClr>
          </a:solidFill>
          <a:ln w="8467">
            <a:solidFill>
              <a:srgbClr val="00A9E0">
                <a:alpha val="40000"/>
              </a:srgbClr>
            </a:solidFill>
            <a:prstDash val="solid"/>
          </a:ln>
        </p:spPr>
      </p:sp>
      <p:sp>
        <p:nvSpPr>
          <p:cNvPr id="34" name="Text 4"/>
          <p:cNvSpPr/>
          <p:nvPr/>
        </p:nvSpPr>
        <p:spPr>
          <a:xfrm>
            <a:off x="513854" y="205740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35" name="Text 5"/>
          <p:cNvSpPr/>
          <p:nvPr/>
        </p:nvSpPr>
        <p:spPr>
          <a:xfrm>
            <a:off x="981074" y="2057400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Abstract &amp; Overview</a:t>
            </a:r>
            <a:endParaRPr lang="en-US" sz="1600" dirty="0"/>
          </a:p>
        </p:txBody>
      </p:sp>
      <p:sp>
        <p:nvSpPr>
          <p:cNvPr id="36" name="Text 6"/>
          <p:cNvSpPr/>
          <p:nvPr/>
        </p:nvSpPr>
        <p:spPr>
          <a:xfrm>
            <a:off x="990600" y="2266950"/>
            <a:ext cx="3076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37" name="Shape 7"/>
          <p:cNvSpPr/>
          <p:nvPr/>
        </p:nvSpPr>
        <p:spPr>
          <a:xfrm>
            <a:off x="4295775" y="19653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00A9E0">
              <a:alpha val="14902"/>
            </a:srgbClr>
          </a:solidFill>
          <a:ln w="8467">
            <a:solidFill>
              <a:srgbClr val="00A9E0">
                <a:alpha val="40000"/>
              </a:srgbClr>
            </a:solidFill>
            <a:prstDash val="solid"/>
          </a:ln>
        </p:spPr>
      </p:sp>
      <p:sp>
        <p:nvSpPr>
          <p:cNvPr id="38" name="Text 8"/>
          <p:cNvSpPr/>
          <p:nvPr/>
        </p:nvSpPr>
        <p:spPr>
          <a:xfrm>
            <a:off x="4411762" y="205740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39" name="Text 9"/>
          <p:cNvSpPr/>
          <p:nvPr/>
        </p:nvSpPr>
        <p:spPr>
          <a:xfrm>
            <a:off x="4902200" y="2058987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0" name="Text 10"/>
          <p:cNvSpPr/>
          <p:nvPr/>
        </p:nvSpPr>
        <p:spPr>
          <a:xfrm>
            <a:off x="4902200" y="2266950"/>
            <a:ext cx="3076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41" name="Shape 11"/>
          <p:cNvSpPr/>
          <p:nvPr/>
        </p:nvSpPr>
        <p:spPr>
          <a:xfrm>
            <a:off x="8207375" y="19653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00A9E0">
              <a:alpha val="14902"/>
            </a:srgbClr>
          </a:solidFill>
          <a:ln w="8467">
            <a:solidFill>
              <a:srgbClr val="00A9E0">
                <a:alpha val="40000"/>
              </a:srgbClr>
            </a:solidFill>
            <a:prstDash val="solid"/>
          </a:ln>
        </p:spPr>
      </p:sp>
      <p:sp>
        <p:nvSpPr>
          <p:cNvPr id="42" name="Text 12"/>
          <p:cNvSpPr/>
          <p:nvPr/>
        </p:nvSpPr>
        <p:spPr>
          <a:xfrm>
            <a:off x="8320584" y="20574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43" name="Text 13"/>
          <p:cNvSpPr/>
          <p:nvPr/>
        </p:nvSpPr>
        <p:spPr>
          <a:xfrm>
            <a:off x="8813800" y="2057400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4" name="Text 14"/>
          <p:cNvSpPr/>
          <p:nvPr/>
        </p:nvSpPr>
        <p:spPr>
          <a:xfrm>
            <a:off x="8813800" y="2266950"/>
            <a:ext cx="3076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45" name="Shape 15"/>
          <p:cNvSpPr/>
          <p:nvPr/>
        </p:nvSpPr>
        <p:spPr>
          <a:xfrm>
            <a:off x="384175" y="30702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38B2AC">
              <a:alpha val="14902"/>
            </a:srgbClr>
          </a:soli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46" name="Text 16"/>
          <p:cNvSpPr/>
          <p:nvPr/>
        </p:nvSpPr>
        <p:spPr>
          <a:xfrm>
            <a:off x="494804" y="31623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47" name="Text 17"/>
          <p:cNvSpPr/>
          <p:nvPr/>
        </p:nvSpPr>
        <p:spPr>
          <a:xfrm>
            <a:off x="990600" y="3163887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8" name="Text 18"/>
          <p:cNvSpPr/>
          <p:nvPr/>
        </p:nvSpPr>
        <p:spPr>
          <a:xfrm>
            <a:off x="990600" y="3371850"/>
            <a:ext cx="3076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49" name="Shape 19"/>
          <p:cNvSpPr/>
          <p:nvPr/>
        </p:nvSpPr>
        <p:spPr>
          <a:xfrm>
            <a:off x="4295775" y="30702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38B2AC">
              <a:alpha val="14902"/>
            </a:srgbClr>
          </a:soli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50" name="Text 20"/>
          <p:cNvSpPr/>
          <p:nvPr/>
        </p:nvSpPr>
        <p:spPr>
          <a:xfrm>
            <a:off x="4408587" y="31623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51" name="Text 21"/>
          <p:cNvSpPr/>
          <p:nvPr/>
        </p:nvSpPr>
        <p:spPr>
          <a:xfrm>
            <a:off x="4883150" y="3163887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Workflow</a:t>
            </a:r>
            <a:endParaRPr lang="en-US" sz="1600" dirty="0"/>
          </a:p>
        </p:txBody>
      </p:sp>
      <p:sp>
        <p:nvSpPr>
          <p:cNvPr id="52" name="Text 22"/>
          <p:cNvSpPr/>
          <p:nvPr/>
        </p:nvSpPr>
        <p:spPr>
          <a:xfrm>
            <a:off x="4902200" y="3371850"/>
            <a:ext cx="3076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53" name="Shape 23"/>
          <p:cNvSpPr/>
          <p:nvPr/>
        </p:nvSpPr>
        <p:spPr>
          <a:xfrm>
            <a:off x="8207375" y="30702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38B2AC">
              <a:alpha val="14902"/>
            </a:srgbClr>
          </a:soli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54" name="Text 24"/>
          <p:cNvSpPr/>
          <p:nvPr/>
        </p:nvSpPr>
        <p:spPr>
          <a:xfrm>
            <a:off x="8317607" y="31623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1600" dirty="0"/>
          </a:p>
        </p:txBody>
      </p:sp>
      <p:sp>
        <p:nvSpPr>
          <p:cNvPr id="55" name="Text 25"/>
          <p:cNvSpPr/>
          <p:nvPr/>
        </p:nvSpPr>
        <p:spPr>
          <a:xfrm>
            <a:off x="8813800" y="32004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Dataset &amp; Preprocessing</a:t>
            </a:r>
            <a:endParaRPr lang="en-US" sz="1600" dirty="0"/>
          </a:p>
        </p:txBody>
      </p:sp>
      <p:sp>
        <p:nvSpPr>
          <p:cNvPr id="56" name="Text 26"/>
          <p:cNvSpPr/>
          <p:nvPr/>
        </p:nvSpPr>
        <p:spPr>
          <a:xfrm>
            <a:off x="8813800" y="3371850"/>
            <a:ext cx="3019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57" name="Shape 27"/>
          <p:cNvSpPr/>
          <p:nvPr/>
        </p:nvSpPr>
        <p:spPr>
          <a:xfrm>
            <a:off x="384175" y="41751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58" name="Text 28"/>
          <p:cNvSpPr/>
          <p:nvPr/>
        </p:nvSpPr>
        <p:spPr>
          <a:xfrm>
            <a:off x="502245" y="426720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07</a:t>
            </a:r>
            <a:endParaRPr lang="en-US" sz="1600" dirty="0"/>
          </a:p>
        </p:txBody>
      </p:sp>
      <p:sp>
        <p:nvSpPr>
          <p:cNvPr id="59" name="Text 29"/>
          <p:cNvSpPr/>
          <p:nvPr/>
        </p:nvSpPr>
        <p:spPr>
          <a:xfrm>
            <a:off x="990600" y="4273550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60" name="Text 30"/>
          <p:cNvSpPr/>
          <p:nvPr/>
        </p:nvSpPr>
        <p:spPr>
          <a:xfrm>
            <a:off x="990600" y="4476750"/>
            <a:ext cx="3076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61" name="Shape 31"/>
          <p:cNvSpPr/>
          <p:nvPr/>
        </p:nvSpPr>
        <p:spPr>
          <a:xfrm>
            <a:off x="4295775" y="41751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62" name="Text 32"/>
          <p:cNvSpPr/>
          <p:nvPr/>
        </p:nvSpPr>
        <p:spPr>
          <a:xfrm>
            <a:off x="4406106" y="42672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08</a:t>
            </a:r>
            <a:endParaRPr lang="en-US" sz="1600" dirty="0"/>
          </a:p>
        </p:txBody>
      </p:sp>
      <p:sp>
        <p:nvSpPr>
          <p:cNvPr id="63" name="Text 33"/>
          <p:cNvSpPr/>
          <p:nvPr/>
        </p:nvSpPr>
        <p:spPr>
          <a:xfrm>
            <a:off x="4902200" y="4279900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Training Process</a:t>
            </a:r>
            <a:endParaRPr lang="en-US" sz="1600" dirty="0"/>
          </a:p>
        </p:txBody>
      </p:sp>
      <p:sp>
        <p:nvSpPr>
          <p:cNvPr id="64" name="Text 34"/>
          <p:cNvSpPr/>
          <p:nvPr/>
        </p:nvSpPr>
        <p:spPr>
          <a:xfrm>
            <a:off x="4902200" y="4476750"/>
            <a:ext cx="3076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65" name="Shape 35"/>
          <p:cNvSpPr/>
          <p:nvPr/>
        </p:nvSpPr>
        <p:spPr>
          <a:xfrm>
            <a:off x="8207375" y="41751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8467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66" name="Text 36"/>
          <p:cNvSpPr/>
          <p:nvPr/>
        </p:nvSpPr>
        <p:spPr>
          <a:xfrm>
            <a:off x="8317905" y="42672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09</a:t>
            </a:r>
            <a:endParaRPr lang="en-US" sz="1600" dirty="0"/>
          </a:p>
        </p:txBody>
      </p:sp>
      <p:sp>
        <p:nvSpPr>
          <p:cNvPr id="67" name="Text 37"/>
          <p:cNvSpPr/>
          <p:nvPr/>
        </p:nvSpPr>
        <p:spPr>
          <a:xfrm>
            <a:off x="8813800" y="4267200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Results</a:t>
            </a:r>
            <a:endParaRPr lang="en-US" sz="1600" dirty="0"/>
          </a:p>
        </p:txBody>
      </p:sp>
      <p:sp>
        <p:nvSpPr>
          <p:cNvPr id="68" name="Text 38"/>
          <p:cNvSpPr/>
          <p:nvPr/>
        </p:nvSpPr>
        <p:spPr>
          <a:xfrm>
            <a:off x="8813800" y="4476750"/>
            <a:ext cx="3076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69" name="Shape 39"/>
          <p:cNvSpPr/>
          <p:nvPr/>
        </p:nvSpPr>
        <p:spPr>
          <a:xfrm>
            <a:off x="384175" y="52800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00A9E0">
              <a:alpha val="14902"/>
            </a:srgbClr>
          </a:solidFill>
          <a:ln w="8467">
            <a:solidFill>
              <a:srgbClr val="00A9E0">
                <a:alpha val="40000"/>
              </a:srgbClr>
            </a:solidFill>
            <a:prstDash val="solid"/>
          </a:ln>
        </p:spPr>
      </p:sp>
      <p:sp>
        <p:nvSpPr>
          <p:cNvPr id="70" name="Text 40"/>
          <p:cNvSpPr/>
          <p:nvPr/>
        </p:nvSpPr>
        <p:spPr>
          <a:xfrm>
            <a:off x="513854" y="537210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</a:t>
            </a:r>
            <a:endParaRPr lang="en-US" sz="1600" dirty="0"/>
          </a:p>
        </p:txBody>
      </p:sp>
      <p:sp>
        <p:nvSpPr>
          <p:cNvPr id="71" name="Text 41"/>
          <p:cNvSpPr/>
          <p:nvPr/>
        </p:nvSpPr>
        <p:spPr>
          <a:xfrm>
            <a:off x="990600" y="5373687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</a:rPr>
              <a:t>Interface &amp; Report Generation </a:t>
            </a:r>
            <a:endParaRPr lang="en-US" sz="1600" dirty="0"/>
          </a:p>
        </p:txBody>
      </p:sp>
      <p:sp>
        <p:nvSpPr>
          <p:cNvPr id="72" name="Text 42"/>
          <p:cNvSpPr/>
          <p:nvPr/>
        </p:nvSpPr>
        <p:spPr>
          <a:xfrm>
            <a:off x="990600" y="5581650"/>
            <a:ext cx="3076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73" name="Shape 43"/>
          <p:cNvSpPr/>
          <p:nvPr/>
        </p:nvSpPr>
        <p:spPr>
          <a:xfrm>
            <a:off x="4295775" y="52800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00A9E0">
              <a:alpha val="14902"/>
            </a:srgbClr>
          </a:solidFill>
          <a:ln w="8467">
            <a:solidFill>
              <a:srgbClr val="00A9E0">
                <a:alpha val="40000"/>
              </a:srgbClr>
            </a:solidFill>
            <a:prstDash val="solid"/>
          </a:ln>
        </p:spPr>
      </p:sp>
      <p:sp>
        <p:nvSpPr>
          <p:cNvPr id="74" name="Text 44"/>
          <p:cNvSpPr/>
          <p:nvPr/>
        </p:nvSpPr>
        <p:spPr>
          <a:xfrm>
            <a:off x="4448175" y="5372100"/>
            <a:ext cx="23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11</a:t>
            </a:r>
            <a:endParaRPr lang="en-US" sz="1600" dirty="0"/>
          </a:p>
        </p:txBody>
      </p:sp>
      <p:sp>
        <p:nvSpPr>
          <p:cNvPr id="75" name="Text 45"/>
          <p:cNvSpPr/>
          <p:nvPr/>
        </p:nvSpPr>
        <p:spPr>
          <a:xfrm>
            <a:off x="4902200" y="5373687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Key Improvements</a:t>
            </a:r>
            <a:endParaRPr lang="en-US" sz="1600" dirty="0"/>
          </a:p>
        </p:txBody>
      </p:sp>
      <p:sp>
        <p:nvSpPr>
          <p:cNvPr id="76" name="Text 46"/>
          <p:cNvSpPr/>
          <p:nvPr/>
        </p:nvSpPr>
        <p:spPr>
          <a:xfrm>
            <a:off x="4902200" y="5581650"/>
            <a:ext cx="3076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77" name="Shape 47"/>
          <p:cNvSpPr/>
          <p:nvPr/>
        </p:nvSpPr>
        <p:spPr>
          <a:xfrm>
            <a:off x="8207375" y="52800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114301" y="0"/>
                </a:moveTo>
                <a:lnTo>
                  <a:pt x="339724" y="0"/>
                </a:lnTo>
                <a:cubicBezTo>
                  <a:pt x="402851" y="0"/>
                  <a:pt x="454025" y="51174"/>
                  <a:pt x="454025" y="114301"/>
                </a:cubicBezTo>
                <a:lnTo>
                  <a:pt x="454025" y="339724"/>
                </a:lnTo>
                <a:cubicBezTo>
                  <a:pt x="454025" y="402851"/>
                  <a:pt x="402851" y="454025"/>
                  <a:pt x="339724" y="454025"/>
                </a:cubicBezTo>
                <a:lnTo>
                  <a:pt x="114301" y="454025"/>
                </a:lnTo>
                <a:cubicBezTo>
                  <a:pt x="51174" y="454025"/>
                  <a:pt x="0" y="402851"/>
                  <a:pt x="0" y="3397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38B2AC">
              <a:alpha val="14902"/>
            </a:srgbClr>
          </a:soli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78" name="Text 48"/>
          <p:cNvSpPr/>
          <p:nvPr/>
        </p:nvSpPr>
        <p:spPr>
          <a:xfrm>
            <a:off x="8346182" y="537210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12</a:t>
            </a:r>
            <a:endParaRPr lang="en-US" sz="1600" dirty="0"/>
          </a:p>
        </p:txBody>
      </p:sp>
      <p:sp>
        <p:nvSpPr>
          <p:cNvPr id="79" name="Text 49"/>
          <p:cNvSpPr/>
          <p:nvPr/>
        </p:nvSpPr>
        <p:spPr>
          <a:xfrm>
            <a:off x="8813800" y="5372100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Conclusion </a:t>
            </a:r>
            <a:endParaRPr lang="en-US" sz="1600" dirty="0"/>
          </a:p>
        </p:txBody>
      </p:sp>
      <p:sp>
        <p:nvSpPr>
          <p:cNvPr id="80" name="Text 50"/>
          <p:cNvSpPr/>
          <p:nvPr/>
        </p:nvSpPr>
        <p:spPr>
          <a:xfrm>
            <a:off x="8813800" y="5581650"/>
            <a:ext cx="2371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3858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4572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0050" y="1104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Abstract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2124075"/>
            <a:ext cx="11410950" cy="2247900"/>
          </a:xfrm>
          <a:custGeom>
            <a:avLst/>
            <a:gdLst/>
            <a:ahLst/>
            <a:cxnLst/>
            <a:rect l="l" t="t" r="r" b="b"/>
            <a:pathLst>
              <a:path w="11410950" h="2247900">
                <a:moveTo>
                  <a:pt x="38100" y="0"/>
                </a:moveTo>
                <a:lnTo>
                  <a:pt x="11258542" y="0"/>
                </a:lnTo>
                <a:cubicBezTo>
                  <a:pt x="11342715" y="0"/>
                  <a:pt x="11410950" y="68235"/>
                  <a:pt x="11410950" y="152408"/>
                </a:cubicBezTo>
                <a:lnTo>
                  <a:pt x="11410950" y="2095492"/>
                </a:lnTo>
                <a:cubicBezTo>
                  <a:pt x="11410950" y="2179665"/>
                  <a:pt x="11342715" y="2247900"/>
                  <a:pt x="11258542" y="2247900"/>
                </a:cubicBez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2124075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3810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" y="2505075"/>
            <a:ext cx="107442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focuses on detecting AI-generated and real images using a </a:t>
            </a: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Convolutional Neural Network</a:t>
            </a:r>
            <a:r>
              <a:rPr lang="en-US" sz="18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model performs automatic feature extraction and binary classification using </a:t>
            </a: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sigmoid activation</a:t>
            </a:r>
            <a:r>
              <a:rPr lang="en-US" sz="18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It is trained using </a:t>
            </a: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 crossentropy loss</a:t>
            </a:r>
            <a:r>
              <a:rPr lang="en-US" sz="18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Adam optimizer</a:t>
            </a:r>
            <a:r>
              <a:rPr lang="en-US" sz="18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system is integrated with a </a:t>
            </a: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Gradio interface</a:t>
            </a:r>
            <a:r>
              <a:rPr lang="en-US" sz="18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provide real-time predictions along with confidence scores.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5181600"/>
            <a:ext cx="2743200" cy="1295400"/>
          </a:xfrm>
          <a:custGeom>
            <a:avLst/>
            <a:gdLst/>
            <a:ahLst/>
            <a:cxnLst/>
            <a:rect l="l" t="t" r="r" b="b"/>
            <a:pathLst>
              <a:path w="2743200" h="12954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181094"/>
                </a:lnTo>
                <a:cubicBezTo>
                  <a:pt x="2743200" y="1244223"/>
                  <a:pt x="2692023" y="1295400"/>
                  <a:pt x="2628894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518160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1612106" y="53911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28638" y="579120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8163" y="609600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Architecture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76600" y="5181600"/>
            <a:ext cx="2743200" cy="1295400"/>
          </a:xfrm>
          <a:custGeom>
            <a:avLst/>
            <a:gdLst/>
            <a:ahLst/>
            <a:cxnLst/>
            <a:rect l="l" t="t" r="r" b="b"/>
            <a:pathLst>
              <a:path w="2743200" h="12954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181094"/>
                </a:lnTo>
                <a:cubicBezTo>
                  <a:pt x="2743200" y="1244223"/>
                  <a:pt x="2692023" y="1295400"/>
                  <a:pt x="2628894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6600" y="518160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4507706" y="53911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424238" y="579120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33763" y="609600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Learning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5181600"/>
            <a:ext cx="2743200" cy="1295400"/>
          </a:xfrm>
          <a:custGeom>
            <a:avLst/>
            <a:gdLst/>
            <a:ahLst/>
            <a:cxnLst/>
            <a:rect l="l" t="t" r="r" b="b"/>
            <a:pathLst>
              <a:path w="2743200" h="12954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181094"/>
                </a:lnTo>
                <a:cubicBezTo>
                  <a:pt x="2743200" y="1244223"/>
                  <a:pt x="2692023" y="1295400"/>
                  <a:pt x="2628894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518160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7403306" y="53911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319838" y="579120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9363" y="609600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vs AI-Generated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67800" y="5181600"/>
            <a:ext cx="2743200" cy="1295400"/>
          </a:xfrm>
          <a:custGeom>
            <a:avLst/>
            <a:gdLst/>
            <a:ahLst/>
            <a:cxnLst/>
            <a:rect l="l" t="t" r="r" b="b"/>
            <a:pathLst>
              <a:path w="2743200" h="12954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181094"/>
                </a:lnTo>
                <a:cubicBezTo>
                  <a:pt x="2743200" y="1244223"/>
                  <a:pt x="2692023" y="1295400"/>
                  <a:pt x="2628894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67800" y="518160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98906" y="53911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9215438" y="579120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Gradio Interface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24963" y="609600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Predictions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4572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Problem Statement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1638300"/>
            <a:ext cx="5581650" cy="1362075"/>
          </a:xfrm>
          <a:custGeom>
            <a:avLst/>
            <a:gdLst/>
            <a:ahLst/>
            <a:cxnLst/>
            <a:rect l="l" t="t" r="r" b="b"/>
            <a:pathLst>
              <a:path w="5581650" h="1362075">
                <a:moveTo>
                  <a:pt x="38100" y="0"/>
                </a:moveTo>
                <a:lnTo>
                  <a:pt x="5467345" y="0"/>
                </a:lnTo>
                <a:cubicBezTo>
                  <a:pt x="5530474" y="0"/>
                  <a:pt x="5581650" y="51176"/>
                  <a:pt x="5581650" y="114305"/>
                </a:cubicBezTo>
                <a:lnTo>
                  <a:pt x="5581650" y="1247770"/>
                </a:lnTo>
                <a:cubicBezTo>
                  <a:pt x="5581650" y="1310899"/>
                  <a:pt x="5530474" y="1362075"/>
                  <a:pt x="5467345" y="1362075"/>
                </a:cubicBez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638300"/>
            <a:ext cx="38100" cy="1362075"/>
          </a:xfrm>
          <a:custGeom>
            <a:avLst/>
            <a:gdLst/>
            <a:ahLst/>
            <a:cxnLst/>
            <a:rect l="l" t="t" r="r" b="b"/>
            <a:pathLst>
              <a:path w="38100" h="1362075">
                <a:moveTo>
                  <a:pt x="38100" y="0"/>
                </a:moveTo>
                <a:lnTo>
                  <a:pt x="38100" y="0"/>
                </a:lnTo>
                <a:lnTo>
                  <a:pt x="38100" y="1362075"/>
                </a:ln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85813" y="201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18669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Highly Realistic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2209800"/>
            <a:ext cx="4505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AI-generated images are becoming increasingly realistic and difficult to identify visually.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186113"/>
            <a:ext cx="5581650" cy="1362075"/>
          </a:xfrm>
          <a:custGeom>
            <a:avLst/>
            <a:gdLst/>
            <a:ahLst/>
            <a:cxnLst/>
            <a:rect l="l" t="t" r="r" b="b"/>
            <a:pathLst>
              <a:path w="5581650" h="1362075">
                <a:moveTo>
                  <a:pt x="38100" y="0"/>
                </a:moveTo>
                <a:lnTo>
                  <a:pt x="5467345" y="0"/>
                </a:lnTo>
                <a:cubicBezTo>
                  <a:pt x="5530474" y="0"/>
                  <a:pt x="5581650" y="51176"/>
                  <a:pt x="5581650" y="114305"/>
                </a:cubicBezTo>
                <a:lnTo>
                  <a:pt x="5581650" y="1247770"/>
                </a:lnTo>
                <a:cubicBezTo>
                  <a:pt x="5581650" y="1310899"/>
                  <a:pt x="5530474" y="1362075"/>
                  <a:pt x="5467345" y="1362075"/>
                </a:cubicBez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3186113"/>
            <a:ext cx="38100" cy="1362075"/>
          </a:xfrm>
          <a:custGeom>
            <a:avLst/>
            <a:gdLst/>
            <a:ahLst/>
            <a:cxnLst/>
            <a:rect l="l" t="t" r="r" b="b"/>
            <a:pathLst>
              <a:path w="38100" h="1362075">
                <a:moveTo>
                  <a:pt x="38100" y="0"/>
                </a:moveTo>
                <a:lnTo>
                  <a:pt x="38100" y="0"/>
                </a:lnTo>
                <a:lnTo>
                  <a:pt x="38100" y="1362075"/>
                </a:ln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7700" y="34147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35671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3414713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 to Distinguish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33500" y="3757613"/>
            <a:ext cx="4505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inspection alone is no longer sufficient to differentiate real from AI-generated content.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733925"/>
            <a:ext cx="5581650" cy="1362075"/>
          </a:xfrm>
          <a:custGeom>
            <a:avLst/>
            <a:gdLst/>
            <a:ahLst/>
            <a:cxnLst/>
            <a:rect l="l" t="t" r="r" b="b"/>
            <a:pathLst>
              <a:path w="5581650" h="1362075">
                <a:moveTo>
                  <a:pt x="38100" y="0"/>
                </a:moveTo>
                <a:lnTo>
                  <a:pt x="5467345" y="0"/>
                </a:lnTo>
                <a:cubicBezTo>
                  <a:pt x="5530474" y="0"/>
                  <a:pt x="5581650" y="51176"/>
                  <a:pt x="5581650" y="114305"/>
                </a:cubicBezTo>
                <a:lnTo>
                  <a:pt x="5581650" y="1247770"/>
                </a:lnTo>
                <a:cubicBezTo>
                  <a:pt x="5581650" y="1310899"/>
                  <a:pt x="5530474" y="1362075"/>
                  <a:pt x="5467345" y="1362075"/>
                </a:cubicBez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4733925"/>
            <a:ext cx="38100" cy="1362075"/>
          </a:xfrm>
          <a:custGeom>
            <a:avLst/>
            <a:gdLst/>
            <a:ahLst/>
            <a:cxnLst/>
            <a:rect l="l" t="t" r="r" b="b"/>
            <a:pathLst>
              <a:path w="38100" h="1362075">
                <a:moveTo>
                  <a:pt x="38100" y="0"/>
                </a:moveTo>
                <a:lnTo>
                  <a:pt x="38100" y="0"/>
                </a:lnTo>
                <a:lnTo>
                  <a:pt x="38100" y="1362075"/>
                </a:ln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700" y="4962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0100" y="5114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1333500" y="4962525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Risks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33500" y="5305425"/>
            <a:ext cx="4505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Misinformation and security threats arise from undetected AI-generated content.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350" y="1638300"/>
            <a:ext cx="5581650" cy="1362075"/>
          </a:xfrm>
          <a:custGeom>
            <a:avLst/>
            <a:gdLst/>
            <a:ahLst/>
            <a:cxnLst/>
            <a:rect l="l" t="t" r="r" b="b"/>
            <a:pathLst>
              <a:path w="5581650" h="1362075">
                <a:moveTo>
                  <a:pt x="38100" y="0"/>
                </a:moveTo>
                <a:lnTo>
                  <a:pt x="5467345" y="0"/>
                </a:lnTo>
                <a:cubicBezTo>
                  <a:pt x="5530474" y="0"/>
                  <a:pt x="5581650" y="51176"/>
                  <a:pt x="5581650" y="114305"/>
                </a:cubicBezTo>
                <a:lnTo>
                  <a:pt x="5581650" y="1247770"/>
                </a:lnTo>
                <a:cubicBezTo>
                  <a:pt x="5581650" y="1310899"/>
                  <a:pt x="5530474" y="1362075"/>
                  <a:pt x="5467345" y="1362075"/>
                </a:cubicBez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29350" y="1638300"/>
            <a:ext cx="38100" cy="1362075"/>
          </a:xfrm>
          <a:custGeom>
            <a:avLst/>
            <a:gdLst/>
            <a:ahLst/>
            <a:cxnLst/>
            <a:rect l="l" t="t" r="r" b="b"/>
            <a:pathLst>
              <a:path w="38100" h="1362075">
                <a:moveTo>
                  <a:pt x="38100" y="0"/>
                </a:moveTo>
                <a:lnTo>
                  <a:pt x="38100" y="0"/>
                </a:lnTo>
                <a:lnTo>
                  <a:pt x="38100" y="1362075"/>
                </a:ln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70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00825" y="2019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900" y="57150"/>
                </a:moveTo>
                <a:cubicBezTo>
                  <a:pt x="60900" y="38008"/>
                  <a:pt x="71112" y="20321"/>
                  <a:pt x="87690" y="10750"/>
                </a:cubicBezTo>
                <a:cubicBezTo>
                  <a:pt x="104267" y="1179"/>
                  <a:pt x="124691" y="1179"/>
                  <a:pt x="141268" y="10750"/>
                </a:cubicBezTo>
                <a:cubicBezTo>
                  <a:pt x="157845" y="20321"/>
                  <a:pt x="168057" y="38008"/>
                  <a:pt x="168057" y="57150"/>
                </a:cubicBezTo>
                <a:cubicBezTo>
                  <a:pt x="168057" y="86721"/>
                  <a:pt x="144049" y="110728"/>
                  <a:pt x="114479" y="110728"/>
                </a:cubicBezTo>
                <a:cubicBezTo>
                  <a:pt x="84908" y="110728"/>
                  <a:pt x="60900" y="86721"/>
                  <a:pt x="60900" y="57150"/>
                </a:cubicBezTo>
                <a:close/>
                <a:moveTo>
                  <a:pt x="21610" y="215339"/>
                </a:moveTo>
                <a:cubicBezTo>
                  <a:pt x="21610" y="171361"/>
                  <a:pt x="57239" y="135731"/>
                  <a:pt x="101218" y="135731"/>
                </a:cubicBezTo>
                <a:lnTo>
                  <a:pt x="127739" y="135731"/>
                </a:lnTo>
                <a:cubicBezTo>
                  <a:pt x="171718" y="135731"/>
                  <a:pt x="207347" y="171361"/>
                  <a:pt x="207347" y="215339"/>
                </a:cubicBezTo>
                <a:cubicBezTo>
                  <a:pt x="207347" y="222662"/>
                  <a:pt x="201409" y="228600"/>
                  <a:pt x="194087" y="228600"/>
                </a:cubicBezTo>
                <a:lnTo>
                  <a:pt x="34870" y="228600"/>
                </a:lnTo>
                <a:cubicBezTo>
                  <a:pt x="27548" y="228600"/>
                  <a:pt x="21610" y="222662"/>
                  <a:pt x="21610" y="215339"/>
                </a:cubicBezTo>
                <a:close/>
                <a:moveTo>
                  <a:pt x="273382" y="55409"/>
                </a:moveTo>
                <a:cubicBezTo>
                  <a:pt x="277579" y="59606"/>
                  <a:pt x="277579" y="66392"/>
                  <a:pt x="273382" y="70545"/>
                </a:cubicBezTo>
                <a:lnTo>
                  <a:pt x="258247" y="85680"/>
                </a:lnTo>
                <a:lnTo>
                  <a:pt x="273382" y="100816"/>
                </a:lnTo>
                <a:cubicBezTo>
                  <a:pt x="277579" y="105013"/>
                  <a:pt x="277579" y="111800"/>
                  <a:pt x="273382" y="115952"/>
                </a:cubicBezTo>
                <a:cubicBezTo>
                  <a:pt x="269185" y="120104"/>
                  <a:pt x="262399" y="120149"/>
                  <a:pt x="258247" y="115952"/>
                </a:cubicBezTo>
                <a:lnTo>
                  <a:pt x="243111" y="100816"/>
                </a:lnTo>
                <a:lnTo>
                  <a:pt x="227975" y="115952"/>
                </a:lnTo>
                <a:cubicBezTo>
                  <a:pt x="223778" y="120149"/>
                  <a:pt x="216991" y="120149"/>
                  <a:pt x="212839" y="115952"/>
                </a:cubicBezTo>
                <a:cubicBezTo>
                  <a:pt x="208687" y="111755"/>
                  <a:pt x="208642" y="104968"/>
                  <a:pt x="212839" y="100816"/>
                </a:cubicBezTo>
                <a:lnTo>
                  <a:pt x="227975" y="85680"/>
                </a:lnTo>
                <a:lnTo>
                  <a:pt x="212839" y="70545"/>
                </a:lnTo>
                <a:cubicBezTo>
                  <a:pt x="208642" y="66348"/>
                  <a:pt x="208642" y="59561"/>
                  <a:pt x="212839" y="55409"/>
                </a:cubicBezTo>
                <a:cubicBezTo>
                  <a:pt x="217036" y="51256"/>
                  <a:pt x="223823" y="51212"/>
                  <a:pt x="227975" y="55409"/>
                </a:cubicBezTo>
                <a:lnTo>
                  <a:pt x="243111" y="70545"/>
                </a:lnTo>
                <a:lnTo>
                  <a:pt x="258247" y="55409"/>
                </a:lnTo>
                <a:cubicBezTo>
                  <a:pt x="262444" y="51212"/>
                  <a:pt x="269230" y="51212"/>
                  <a:pt x="273382" y="55409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7162800" y="18669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Detection Unreliable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62800" y="2209800"/>
            <a:ext cx="4505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detection methods are inconsistent and leads to errors.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0300" y="3186113"/>
            <a:ext cx="5600700" cy="2562225"/>
          </a:xfrm>
          <a:custGeom>
            <a:avLst/>
            <a:gdLst/>
            <a:ahLst/>
            <a:cxnLst/>
            <a:rect l="l" t="t" r="r" b="b"/>
            <a:pathLst>
              <a:path w="5600700" h="2562225">
                <a:moveTo>
                  <a:pt x="114301" y="0"/>
                </a:moveTo>
                <a:lnTo>
                  <a:pt x="5486399" y="0"/>
                </a:lnTo>
                <a:cubicBezTo>
                  <a:pt x="5549526" y="0"/>
                  <a:pt x="5600700" y="51174"/>
                  <a:pt x="5600700" y="114301"/>
                </a:cubicBezTo>
                <a:lnTo>
                  <a:pt x="5600700" y="2447924"/>
                </a:lnTo>
                <a:cubicBezTo>
                  <a:pt x="5600700" y="2511051"/>
                  <a:pt x="5549526" y="2562225"/>
                  <a:pt x="5486399" y="2562225"/>
                </a:cubicBezTo>
                <a:lnTo>
                  <a:pt x="114301" y="2562225"/>
                </a:lnTo>
                <a:cubicBezTo>
                  <a:pt x="51174" y="2562225"/>
                  <a:pt x="0" y="2511051"/>
                  <a:pt x="0" y="24479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E3A5F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39200" y="3490913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43663" y="4100513"/>
            <a:ext cx="5133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67475" y="4824413"/>
            <a:ext cx="50863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 for automated </a:t>
            </a: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AI-based detection system</a:t>
            </a: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can accurately classify images with high confidence.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457200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Objectives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1000" y="1581150"/>
            <a:ext cx="3686175" cy="2343150"/>
          </a:xfrm>
          <a:custGeom>
            <a:avLst/>
            <a:gdLst/>
            <a:ahLst/>
            <a:cxnLst/>
            <a:rect l="l" t="t" r="r" b="b"/>
            <a:pathLst>
              <a:path w="3686175" h="23431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28851"/>
                </a:lnTo>
                <a:cubicBezTo>
                  <a:pt x="3686175" y="2291977"/>
                  <a:pt x="3635002" y="2343150"/>
                  <a:pt x="357187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5811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3906" y="1990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25908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CNN-based Classifier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9718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a robust Convolutional Neural Network architecture for image classification.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4500" y="1581150"/>
            <a:ext cx="3686175" cy="2343150"/>
          </a:xfrm>
          <a:custGeom>
            <a:avLst/>
            <a:gdLst/>
            <a:ahLst/>
            <a:cxnLst/>
            <a:rect l="l" t="t" r="r" b="b"/>
            <a:pathLst>
              <a:path w="3686175" h="23431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28851"/>
                </a:lnTo>
                <a:cubicBezTo>
                  <a:pt x="3686175" y="2291977"/>
                  <a:pt x="3635002" y="2343150"/>
                  <a:pt x="357187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4500" y="15811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3100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647406" y="1990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84051"/>
                </a:moveTo>
                <a:lnTo>
                  <a:pt x="226926" y="137629"/>
                </a:lnTo>
                <a:cubicBezTo>
                  <a:pt x="221791" y="142763"/>
                  <a:pt x="214145" y="144270"/>
                  <a:pt x="207448" y="141480"/>
                </a:cubicBezTo>
                <a:cubicBezTo>
                  <a:pt x="200751" y="138689"/>
                  <a:pt x="196453" y="132215"/>
                  <a:pt x="196453" y="125016"/>
                </a:cubicBezTo>
                <a:lnTo>
                  <a:pt x="196453" y="89297"/>
                </a:ln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196453" y="53578"/>
                </a:lnTo>
                <a:lnTo>
                  <a:pt x="196453" y="17859"/>
                </a:lnTo>
                <a:cubicBezTo>
                  <a:pt x="196453" y="10660"/>
                  <a:pt x="200806" y="4130"/>
                  <a:pt x="207504" y="1339"/>
                </a:cubicBezTo>
                <a:cubicBezTo>
                  <a:pt x="214201" y="-1451"/>
                  <a:pt x="221847" y="112"/>
                  <a:pt x="226981" y="5190"/>
                </a:cubicBezTo>
                <a:lnTo>
                  <a:pt x="280560" y="58769"/>
                </a:lnTo>
                <a:cubicBezTo>
                  <a:pt x="287536" y="65745"/>
                  <a:pt x="287536" y="77074"/>
                  <a:pt x="280560" y="84051"/>
                </a:cubicBezTo>
                <a:close/>
                <a:moveTo>
                  <a:pt x="58769" y="280504"/>
                </a:moveTo>
                <a:lnTo>
                  <a:pt x="5190" y="226926"/>
                </a:lnTo>
                <a:cubicBezTo>
                  <a:pt x="-1786" y="219949"/>
                  <a:pt x="-1786" y="208620"/>
                  <a:pt x="5190" y="201644"/>
                </a:cubicBezTo>
                <a:lnTo>
                  <a:pt x="58769" y="148065"/>
                </a:lnTo>
                <a:cubicBezTo>
                  <a:pt x="63903" y="142931"/>
                  <a:pt x="71549" y="141424"/>
                  <a:pt x="78246" y="144214"/>
                </a:cubicBezTo>
                <a:cubicBezTo>
                  <a:pt x="84944" y="147005"/>
                  <a:pt x="89297" y="153535"/>
                  <a:pt x="89297" y="160734"/>
                </a:cubicBezTo>
                <a:lnTo>
                  <a:pt x="89297" y="196453"/>
                </a:lnTo>
                <a:lnTo>
                  <a:pt x="267891" y="196453"/>
                </a:lnTo>
                <a:cubicBezTo>
                  <a:pt x="277769" y="196453"/>
                  <a:pt x="285750" y="204434"/>
                  <a:pt x="285750" y="214313"/>
                </a:cubicBezTo>
                <a:cubicBezTo>
                  <a:pt x="285750" y="224191"/>
                  <a:pt x="277769" y="232172"/>
                  <a:pt x="267891" y="232172"/>
                </a:cubicBezTo>
                <a:lnTo>
                  <a:pt x="89297" y="232172"/>
                </a:lnTo>
                <a:lnTo>
                  <a:pt x="89297" y="267891"/>
                </a:lnTo>
                <a:cubicBezTo>
                  <a:pt x="89297" y="275090"/>
                  <a:pt x="84944" y="281620"/>
                  <a:pt x="78246" y="284411"/>
                </a:cubicBezTo>
                <a:cubicBezTo>
                  <a:pt x="71549" y="287201"/>
                  <a:pt x="63903" y="285638"/>
                  <a:pt x="58769" y="28056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483100" y="25908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vs AI Classification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3100" y="29718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 binary classification to distinguish between authentic and AI-generated images.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1581150"/>
            <a:ext cx="3686175" cy="2343150"/>
          </a:xfrm>
          <a:custGeom>
            <a:avLst/>
            <a:gdLst/>
            <a:ahLst/>
            <a:cxnLst/>
            <a:rect l="l" t="t" r="r" b="b"/>
            <a:pathLst>
              <a:path w="3686175" h="23431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28851"/>
                </a:lnTo>
                <a:cubicBezTo>
                  <a:pt x="3686175" y="2291977"/>
                  <a:pt x="3635002" y="2343150"/>
                  <a:pt x="357187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28000" y="15811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8356600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20907" y="1990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356600" y="25908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Features Automatically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6600" y="29718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the model to automatically extract and learn relevant image features.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4133850"/>
            <a:ext cx="3686175" cy="2343150"/>
          </a:xfrm>
          <a:custGeom>
            <a:avLst/>
            <a:gdLst/>
            <a:ahLst/>
            <a:cxnLst/>
            <a:rect l="l" t="t" r="r" b="b"/>
            <a:pathLst>
              <a:path w="3686175" h="23431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28851"/>
                </a:lnTo>
                <a:cubicBezTo>
                  <a:pt x="3686175" y="2291977"/>
                  <a:pt x="3635002" y="2343150"/>
                  <a:pt x="357187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1000" y="41338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600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73906" y="4543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09600" y="51435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Model Performance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9600" y="55245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 model accuracy, loss, and overall performance through comprehensive metrics.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54500" y="4133850"/>
            <a:ext cx="3686175" cy="2343150"/>
          </a:xfrm>
          <a:custGeom>
            <a:avLst/>
            <a:gdLst/>
            <a:ahLst/>
            <a:cxnLst/>
            <a:rect l="l" t="t" r="r" b="b"/>
            <a:pathLst>
              <a:path w="3686175" h="23431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28851"/>
                </a:lnTo>
                <a:cubicBezTo>
                  <a:pt x="3686175" y="2291977"/>
                  <a:pt x="3635002" y="2343150"/>
                  <a:pt x="357187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54500" y="41338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2" name="Shape 30"/>
          <p:cNvSpPr/>
          <p:nvPr/>
        </p:nvSpPr>
        <p:spPr>
          <a:xfrm>
            <a:off x="4483100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47406" y="4543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4483100" y="51435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Using Gradio Interface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3100" y="55245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an interactive web interface for easy model access and predictions.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28000" y="4133850"/>
            <a:ext cx="3686175" cy="2343150"/>
          </a:xfrm>
          <a:custGeom>
            <a:avLst/>
            <a:gdLst/>
            <a:ahLst/>
            <a:cxnLst/>
            <a:rect l="l" t="t" r="r" b="b"/>
            <a:pathLst>
              <a:path w="3686175" h="23431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28851"/>
                </a:lnTo>
                <a:cubicBezTo>
                  <a:pt x="3686175" y="2291977"/>
                  <a:pt x="3635002" y="2343150"/>
                  <a:pt x="357187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28000" y="41338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8356600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6B6D4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503047" y="45434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53578" y="0"/>
                </a:moveTo>
                <a:cubicBezTo>
                  <a:pt x="33877" y="0"/>
                  <a:pt x="17859" y="16018"/>
                  <a:pt x="17859" y="35719"/>
                </a:cubicBezTo>
                <a:lnTo>
                  <a:pt x="17859" y="250031"/>
                </a:lnTo>
                <a:cubicBezTo>
                  <a:pt x="17859" y="269732"/>
                  <a:pt x="33877" y="285750"/>
                  <a:pt x="53578" y="285750"/>
                </a:cubicBezTo>
                <a:lnTo>
                  <a:pt x="98227" y="285750"/>
                </a:lnTo>
                <a:lnTo>
                  <a:pt x="98227" y="223242"/>
                </a:lnTo>
                <a:cubicBezTo>
                  <a:pt x="98227" y="203541"/>
                  <a:pt x="114244" y="187523"/>
                  <a:pt x="133945" y="187523"/>
                </a:cubicBezTo>
                <a:lnTo>
                  <a:pt x="232172" y="187523"/>
                </a:lnTo>
                <a:lnTo>
                  <a:pt x="232172" y="95157"/>
                </a:lnTo>
                <a:cubicBezTo>
                  <a:pt x="232172" y="85669"/>
                  <a:pt x="228433" y="76572"/>
                  <a:pt x="221735" y="69875"/>
                </a:cubicBezTo>
                <a:lnTo>
                  <a:pt x="162241" y="10437"/>
                </a:lnTo>
                <a:cubicBezTo>
                  <a:pt x="155544" y="3739"/>
                  <a:pt x="146503" y="0"/>
                  <a:pt x="137015" y="0"/>
                </a:cubicBezTo>
                <a:lnTo>
                  <a:pt x="53578" y="0"/>
                </a:lnTo>
                <a:close/>
                <a:moveTo>
                  <a:pt x="199523" y="98227"/>
                </a:moveTo>
                <a:lnTo>
                  <a:pt x="147340" y="98227"/>
                </a:lnTo>
                <a:cubicBezTo>
                  <a:pt x="139917" y="98227"/>
                  <a:pt x="133945" y="92255"/>
                  <a:pt x="133945" y="84832"/>
                </a:cubicBezTo>
                <a:lnTo>
                  <a:pt x="133945" y="32649"/>
                </a:lnTo>
                <a:lnTo>
                  <a:pt x="199523" y="98227"/>
                </a:lnTo>
                <a:close/>
                <a:moveTo>
                  <a:pt x="133945" y="212080"/>
                </a:moveTo>
                <a:cubicBezTo>
                  <a:pt x="127806" y="212080"/>
                  <a:pt x="122783" y="217103"/>
                  <a:pt x="122783" y="223242"/>
                </a:cubicBezTo>
                <a:lnTo>
                  <a:pt x="122783" y="294680"/>
                </a:lnTo>
                <a:cubicBezTo>
                  <a:pt x="122783" y="300819"/>
                  <a:pt x="127806" y="305842"/>
                  <a:pt x="133945" y="305842"/>
                </a:cubicBezTo>
                <a:cubicBezTo>
                  <a:pt x="140084" y="305842"/>
                  <a:pt x="145107" y="300819"/>
                  <a:pt x="145107" y="294680"/>
                </a:cubicBezTo>
                <a:lnTo>
                  <a:pt x="145107" y="279053"/>
                </a:lnTo>
                <a:lnTo>
                  <a:pt x="151805" y="279053"/>
                </a:lnTo>
                <a:cubicBezTo>
                  <a:pt x="170278" y="279053"/>
                  <a:pt x="185291" y="264040"/>
                  <a:pt x="185291" y="245566"/>
                </a:cubicBezTo>
                <a:cubicBezTo>
                  <a:pt x="185291" y="227093"/>
                  <a:pt x="170278" y="212080"/>
                  <a:pt x="151805" y="212080"/>
                </a:cubicBezTo>
                <a:lnTo>
                  <a:pt x="133945" y="212080"/>
                </a:lnTo>
                <a:close/>
                <a:moveTo>
                  <a:pt x="151805" y="256729"/>
                </a:moveTo>
                <a:lnTo>
                  <a:pt x="145107" y="256729"/>
                </a:lnTo>
                <a:lnTo>
                  <a:pt x="145107" y="234404"/>
                </a:lnTo>
                <a:lnTo>
                  <a:pt x="151805" y="234404"/>
                </a:lnTo>
                <a:cubicBezTo>
                  <a:pt x="157944" y="234404"/>
                  <a:pt x="162967" y="239427"/>
                  <a:pt x="162967" y="245566"/>
                </a:cubicBezTo>
                <a:cubicBezTo>
                  <a:pt x="162967" y="251706"/>
                  <a:pt x="157944" y="256729"/>
                  <a:pt x="151805" y="256729"/>
                </a:cubicBezTo>
                <a:close/>
                <a:moveTo>
                  <a:pt x="205383" y="212080"/>
                </a:moveTo>
                <a:cubicBezTo>
                  <a:pt x="199244" y="212080"/>
                  <a:pt x="194221" y="217103"/>
                  <a:pt x="194221" y="223242"/>
                </a:cubicBezTo>
                <a:lnTo>
                  <a:pt x="194221" y="294680"/>
                </a:lnTo>
                <a:cubicBezTo>
                  <a:pt x="194221" y="300819"/>
                  <a:pt x="199244" y="305842"/>
                  <a:pt x="205383" y="305842"/>
                </a:cubicBezTo>
                <a:lnTo>
                  <a:pt x="223242" y="305842"/>
                </a:lnTo>
                <a:cubicBezTo>
                  <a:pt x="239260" y="305842"/>
                  <a:pt x="252264" y="292838"/>
                  <a:pt x="252264" y="276820"/>
                </a:cubicBezTo>
                <a:lnTo>
                  <a:pt x="252264" y="241102"/>
                </a:lnTo>
                <a:cubicBezTo>
                  <a:pt x="252264" y="225084"/>
                  <a:pt x="239260" y="212080"/>
                  <a:pt x="223242" y="212080"/>
                </a:cubicBezTo>
                <a:lnTo>
                  <a:pt x="205383" y="212080"/>
                </a:lnTo>
                <a:close/>
                <a:moveTo>
                  <a:pt x="216545" y="283518"/>
                </a:moveTo>
                <a:lnTo>
                  <a:pt x="216545" y="234404"/>
                </a:lnTo>
                <a:lnTo>
                  <a:pt x="223242" y="234404"/>
                </a:lnTo>
                <a:cubicBezTo>
                  <a:pt x="226926" y="234404"/>
                  <a:pt x="229939" y="237418"/>
                  <a:pt x="229939" y="241102"/>
                </a:cubicBezTo>
                <a:lnTo>
                  <a:pt x="229939" y="276820"/>
                </a:lnTo>
                <a:cubicBezTo>
                  <a:pt x="229939" y="280504"/>
                  <a:pt x="226926" y="283518"/>
                  <a:pt x="223242" y="283518"/>
                </a:cubicBezTo>
                <a:lnTo>
                  <a:pt x="216545" y="283518"/>
                </a:lnTo>
                <a:close/>
                <a:moveTo>
                  <a:pt x="265658" y="223242"/>
                </a:moveTo>
                <a:lnTo>
                  <a:pt x="265658" y="294680"/>
                </a:lnTo>
                <a:cubicBezTo>
                  <a:pt x="265658" y="300819"/>
                  <a:pt x="270681" y="305842"/>
                  <a:pt x="276820" y="305842"/>
                </a:cubicBezTo>
                <a:cubicBezTo>
                  <a:pt x="282959" y="305842"/>
                  <a:pt x="287982" y="300819"/>
                  <a:pt x="287982" y="294680"/>
                </a:cubicBezTo>
                <a:lnTo>
                  <a:pt x="287982" y="270123"/>
                </a:lnTo>
                <a:lnTo>
                  <a:pt x="303609" y="270123"/>
                </a:lnTo>
                <a:cubicBezTo>
                  <a:pt x="309749" y="270123"/>
                  <a:pt x="314771" y="265100"/>
                  <a:pt x="314771" y="258961"/>
                </a:cubicBezTo>
                <a:cubicBezTo>
                  <a:pt x="314771" y="252822"/>
                  <a:pt x="309749" y="247799"/>
                  <a:pt x="303609" y="247799"/>
                </a:cubicBezTo>
                <a:lnTo>
                  <a:pt x="287982" y="247799"/>
                </a:lnTo>
                <a:lnTo>
                  <a:pt x="287982" y="234404"/>
                </a:lnTo>
                <a:lnTo>
                  <a:pt x="303609" y="234404"/>
                </a:lnTo>
                <a:cubicBezTo>
                  <a:pt x="309749" y="234404"/>
                  <a:pt x="314771" y="229381"/>
                  <a:pt x="314771" y="223242"/>
                </a:cubicBezTo>
                <a:cubicBezTo>
                  <a:pt x="314771" y="217103"/>
                  <a:pt x="309749" y="212080"/>
                  <a:pt x="303609" y="212080"/>
                </a:cubicBezTo>
                <a:lnTo>
                  <a:pt x="276820" y="212080"/>
                </a:lnTo>
                <a:cubicBezTo>
                  <a:pt x="270681" y="212080"/>
                  <a:pt x="265658" y="217103"/>
                  <a:pt x="265658" y="22324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0" name="Text 38"/>
          <p:cNvSpPr/>
          <p:nvPr/>
        </p:nvSpPr>
        <p:spPr>
          <a:xfrm>
            <a:off x="8356600" y="51435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Prediction Reports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56600" y="55245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Produce detailed reports with prediction results and confidence scores.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4572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System Architecture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1000" y="2397919"/>
            <a:ext cx="11430000" cy="2247900"/>
          </a:xfrm>
          <a:custGeom>
            <a:avLst/>
            <a:gdLst/>
            <a:ahLst/>
            <a:cxnLst/>
            <a:rect l="l" t="t" r="r" b="b"/>
            <a:pathLst>
              <a:path w="11430000" h="2247900">
                <a:moveTo>
                  <a:pt x="152408" y="0"/>
                </a:moveTo>
                <a:lnTo>
                  <a:pt x="11277592" y="0"/>
                </a:lnTo>
                <a:cubicBezTo>
                  <a:pt x="11361765" y="0"/>
                  <a:pt x="11430000" y="68235"/>
                  <a:pt x="11430000" y="152408"/>
                </a:cubicBezTo>
                <a:lnTo>
                  <a:pt x="11430000" y="2095492"/>
                </a:lnTo>
                <a:cubicBezTo>
                  <a:pt x="11430000" y="2179665"/>
                  <a:pt x="11361765" y="2247900"/>
                  <a:pt x="11277592" y="2247900"/>
                </a:cubicBezTo>
                <a:lnTo>
                  <a:pt x="152408" y="2247900"/>
                </a:lnTo>
                <a:cubicBezTo>
                  <a:pt x="68235" y="2247900"/>
                  <a:pt x="0" y="2179665"/>
                  <a:pt x="0" y="20954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06116" y="27027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13297" y="2988469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278606"/>
                </a:lnTo>
                <a:cubicBezTo>
                  <a:pt x="0" y="302248"/>
                  <a:pt x="19221" y="321469"/>
                  <a:pt x="42863" y="321469"/>
                </a:cubicBezTo>
                <a:lnTo>
                  <a:pt x="257175" y="321469"/>
                </a:lnTo>
                <a:cubicBezTo>
                  <a:pt x="280816" y="321469"/>
                  <a:pt x="300038" y="302248"/>
                  <a:pt x="300038" y="278606"/>
                </a:cubicBezTo>
                <a:lnTo>
                  <a:pt x="300038" y="64294"/>
                </a:lnTo>
                <a:cubicBezTo>
                  <a:pt x="300038" y="40652"/>
                  <a:pt x="280816" y="21431"/>
                  <a:pt x="257175" y="21431"/>
                </a:cubicBezTo>
                <a:lnTo>
                  <a:pt x="42863" y="21431"/>
                </a:lnTo>
                <a:close/>
                <a:moveTo>
                  <a:pt x="85725" y="75009"/>
                </a:moveTo>
                <a:cubicBezTo>
                  <a:pt x="103467" y="75009"/>
                  <a:pt x="117872" y="89414"/>
                  <a:pt x="117872" y="107156"/>
                </a:cubicBezTo>
                <a:cubicBezTo>
                  <a:pt x="117872" y="124899"/>
                  <a:pt x="103467" y="139303"/>
                  <a:pt x="85725" y="139303"/>
                </a:cubicBezTo>
                <a:cubicBezTo>
                  <a:pt x="67983" y="139303"/>
                  <a:pt x="53578" y="124899"/>
                  <a:pt x="53578" y="107156"/>
                </a:cubicBezTo>
                <a:cubicBezTo>
                  <a:pt x="53578" y="89414"/>
                  <a:pt x="67983" y="75009"/>
                  <a:pt x="85725" y="75009"/>
                </a:cubicBezTo>
                <a:close/>
                <a:moveTo>
                  <a:pt x="182166" y="150019"/>
                </a:moveTo>
                <a:cubicBezTo>
                  <a:pt x="187791" y="150019"/>
                  <a:pt x="192948" y="152966"/>
                  <a:pt x="195895" y="157721"/>
                </a:cubicBezTo>
                <a:lnTo>
                  <a:pt x="254831" y="254161"/>
                </a:lnTo>
                <a:cubicBezTo>
                  <a:pt x="257845" y="259117"/>
                  <a:pt x="257979" y="265346"/>
                  <a:pt x="255166" y="270436"/>
                </a:cubicBezTo>
                <a:cubicBezTo>
                  <a:pt x="252353" y="275526"/>
                  <a:pt x="246928" y="278606"/>
                  <a:pt x="241102" y="278606"/>
                </a:cubicBezTo>
                <a:lnTo>
                  <a:pt x="58936" y="278606"/>
                </a:lnTo>
                <a:cubicBezTo>
                  <a:pt x="52975" y="278606"/>
                  <a:pt x="47417" y="275258"/>
                  <a:pt x="44671" y="269967"/>
                </a:cubicBezTo>
                <a:cubicBezTo>
                  <a:pt x="41925" y="264676"/>
                  <a:pt x="42327" y="258247"/>
                  <a:pt x="45742" y="253358"/>
                </a:cubicBezTo>
                <a:lnTo>
                  <a:pt x="83247" y="199779"/>
                </a:lnTo>
                <a:cubicBezTo>
                  <a:pt x="86261" y="195493"/>
                  <a:pt x="91150" y="192948"/>
                  <a:pt x="96441" y="192948"/>
                </a:cubicBezTo>
                <a:cubicBezTo>
                  <a:pt x="101731" y="192948"/>
                  <a:pt x="106620" y="195493"/>
                  <a:pt x="109634" y="199779"/>
                </a:cubicBezTo>
                <a:lnTo>
                  <a:pt x="127315" y="225095"/>
                </a:lnTo>
                <a:lnTo>
                  <a:pt x="168436" y="157788"/>
                </a:lnTo>
                <a:cubicBezTo>
                  <a:pt x="171383" y="153033"/>
                  <a:pt x="176540" y="150086"/>
                  <a:pt x="182166" y="15008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67321" y="3769519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Image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3724" y="4112419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uploads image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36094" y="334407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6605" y="186586"/>
                </a:moveTo>
                <a:cubicBezTo>
                  <a:pt x="344976" y="178214"/>
                  <a:pt x="344976" y="164619"/>
                  <a:pt x="336605" y="156247"/>
                </a:cubicBezTo>
                <a:lnTo>
                  <a:pt x="229448" y="49091"/>
                </a:lnTo>
                <a:cubicBezTo>
                  <a:pt x="221077" y="40719"/>
                  <a:pt x="207481" y="40719"/>
                  <a:pt x="199110" y="49091"/>
                </a:cubicBezTo>
                <a:cubicBezTo>
                  <a:pt x="190738" y="57463"/>
                  <a:pt x="190738" y="71058"/>
                  <a:pt x="199110" y="79430"/>
                </a:cubicBezTo>
                <a:lnTo>
                  <a:pt x="269699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269699" y="192881"/>
                </a:lnTo>
                <a:lnTo>
                  <a:pt x="199110" y="263470"/>
                </a:lnTo>
                <a:cubicBezTo>
                  <a:pt x="190738" y="271842"/>
                  <a:pt x="190738" y="285437"/>
                  <a:pt x="199110" y="293809"/>
                </a:cubicBezTo>
                <a:cubicBezTo>
                  <a:pt x="207481" y="302181"/>
                  <a:pt x="221077" y="302181"/>
                  <a:pt x="229448" y="293809"/>
                </a:cubicBezTo>
                <a:lnTo>
                  <a:pt x="336605" y="18665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94572" y="27027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10B981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7459" y="2988469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78539" y="140977"/>
                </a:moveTo>
                <a:cubicBezTo>
                  <a:pt x="286710" y="138767"/>
                  <a:pt x="295282" y="142652"/>
                  <a:pt x="298966" y="150220"/>
                </a:cubicBezTo>
                <a:lnTo>
                  <a:pt x="311423" y="175401"/>
                </a:lnTo>
                <a:cubicBezTo>
                  <a:pt x="318321" y="176339"/>
                  <a:pt x="325085" y="178214"/>
                  <a:pt x="331448" y="180826"/>
                </a:cubicBezTo>
                <a:lnTo>
                  <a:pt x="354888" y="165222"/>
                </a:lnTo>
                <a:cubicBezTo>
                  <a:pt x="361920" y="160533"/>
                  <a:pt x="371229" y="161471"/>
                  <a:pt x="377190" y="167432"/>
                </a:cubicBezTo>
                <a:lnTo>
                  <a:pt x="390049" y="180290"/>
                </a:lnTo>
                <a:cubicBezTo>
                  <a:pt x="396009" y="186251"/>
                  <a:pt x="396947" y="195627"/>
                  <a:pt x="392259" y="202592"/>
                </a:cubicBezTo>
                <a:lnTo>
                  <a:pt x="376654" y="225966"/>
                </a:lnTo>
                <a:cubicBezTo>
                  <a:pt x="377927" y="229113"/>
                  <a:pt x="379065" y="232395"/>
                  <a:pt x="380003" y="235811"/>
                </a:cubicBezTo>
                <a:cubicBezTo>
                  <a:pt x="380940" y="239226"/>
                  <a:pt x="381543" y="242575"/>
                  <a:pt x="382012" y="245991"/>
                </a:cubicBezTo>
                <a:lnTo>
                  <a:pt x="407261" y="258447"/>
                </a:lnTo>
                <a:cubicBezTo>
                  <a:pt x="414829" y="262198"/>
                  <a:pt x="418713" y="270770"/>
                  <a:pt x="416503" y="278874"/>
                </a:cubicBezTo>
                <a:lnTo>
                  <a:pt x="411815" y="296421"/>
                </a:lnTo>
                <a:cubicBezTo>
                  <a:pt x="409605" y="304525"/>
                  <a:pt x="402037" y="310016"/>
                  <a:pt x="393598" y="309481"/>
                </a:cubicBezTo>
                <a:lnTo>
                  <a:pt x="365470" y="307672"/>
                </a:lnTo>
                <a:cubicBezTo>
                  <a:pt x="361251" y="313097"/>
                  <a:pt x="356362" y="318120"/>
                  <a:pt x="350803" y="322406"/>
                </a:cubicBezTo>
                <a:lnTo>
                  <a:pt x="352611" y="350468"/>
                </a:lnTo>
                <a:cubicBezTo>
                  <a:pt x="353147" y="358906"/>
                  <a:pt x="347655" y="366541"/>
                  <a:pt x="339551" y="368684"/>
                </a:cubicBezTo>
                <a:lnTo>
                  <a:pt x="322005" y="373373"/>
                </a:lnTo>
                <a:cubicBezTo>
                  <a:pt x="313834" y="375583"/>
                  <a:pt x="305328" y="371698"/>
                  <a:pt x="301578" y="364130"/>
                </a:cubicBezTo>
                <a:lnTo>
                  <a:pt x="289121" y="338949"/>
                </a:lnTo>
                <a:cubicBezTo>
                  <a:pt x="282223" y="338011"/>
                  <a:pt x="275459" y="336136"/>
                  <a:pt x="269096" y="333524"/>
                </a:cubicBezTo>
                <a:lnTo>
                  <a:pt x="245656" y="349128"/>
                </a:lnTo>
                <a:cubicBezTo>
                  <a:pt x="238624" y="353817"/>
                  <a:pt x="229314" y="352879"/>
                  <a:pt x="223354" y="346918"/>
                </a:cubicBezTo>
                <a:lnTo>
                  <a:pt x="210495" y="334060"/>
                </a:lnTo>
                <a:cubicBezTo>
                  <a:pt x="204534" y="328099"/>
                  <a:pt x="203597" y="318790"/>
                  <a:pt x="208285" y="311758"/>
                </a:cubicBezTo>
                <a:lnTo>
                  <a:pt x="223890" y="288317"/>
                </a:lnTo>
                <a:cubicBezTo>
                  <a:pt x="222617" y="285170"/>
                  <a:pt x="221479" y="281888"/>
                  <a:pt x="220541" y="278472"/>
                </a:cubicBezTo>
                <a:cubicBezTo>
                  <a:pt x="219603" y="275057"/>
                  <a:pt x="219001" y="271641"/>
                  <a:pt x="218532" y="268292"/>
                </a:cubicBezTo>
                <a:lnTo>
                  <a:pt x="193283" y="255836"/>
                </a:lnTo>
                <a:cubicBezTo>
                  <a:pt x="185715" y="252085"/>
                  <a:pt x="181898" y="243513"/>
                  <a:pt x="184041" y="235409"/>
                </a:cubicBezTo>
                <a:lnTo>
                  <a:pt x="188729" y="217862"/>
                </a:lnTo>
                <a:cubicBezTo>
                  <a:pt x="190939" y="209758"/>
                  <a:pt x="198507" y="204267"/>
                  <a:pt x="206946" y="204802"/>
                </a:cubicBezTo>
                <a:lnTo>
                  <a:pt x="235007" y="206611"/>
                </a:lnTo>
                <a:cubicBezTo>
                  <a:pt x="239226" y="201186"/>
                  <a:pt x="244115" y="196163"/>
                  <a:pt x="249674" y="191877"/>
                </a:cubicBezTo>
                <a:lnTo>
                  <a:pt x="247866" y="163882"/>
                </a:lnTo>
                <a:cubicBezTo>
                  <a:pt x="247330" y="155444"/>
                  <a:pt x="252822" y="147809"/>
                  <a:pt x="260925" y="145666"/>
                </a:cubicBezTo>
                <a:lnTo>
                  <a:pt x="278472" y="140977"/>
                </a:lnTo>
                <a:close/>
                <a:moveTo>
                  <a:pt x="300305" y="227707"/>
                </a:moveTo>
                <a:cubicBezTo>
                  <a:pt x="284042" y="227726"/>
                  <a:pt x="270852" y="240945"/>
                  <a:pt x="270871" y="257208"/>
                </a:cubicBezTo>
                <a:cubicBezTo>
                  <a:pt x="270889" y="273472"/>
                  <a:pt x="284109" y="286661"/>
                  <a:pt x="300372" y="286643"/>
                </a:cubicBezTo>
                <a:cubicBezTo>
                  <a:pt x="316636" y="286624"/>
                  <a:pt x="329825" y="273405"/>
                  <a:pt x="329807" y="257142"/>
                </a:cubicBezTo>
                <a:cubicBezTo>
                  <a:pt x="329788" y="240878"/>
                  <a:pt x="316569" y="227689"/>
                  <a:pt x="300305" y="227707"/>
                </a:cubicBezTo>
                <a:close/>
                <a:moveTo>
                  <a:pt x="150622" y="-30473"/>
                </a:moveTo>
                <a:lnTo>
                  <a:pt x="168168" y="-25784"/>
                </a:lnTo>
                <a:cubicBezTo>
                  <a:pt x="176272" y="-23574"/>
                  <a:pt x="181764" y="-15939"/>
                  <a:pt x="181228" y="-7568"/>
                </a:cubicBezTo>
                <a:lnTo>
                  <a:pt x="179420" y="20427"/>
                </a:lnTo>
                <a:cubicBezTo>
                  <a:pt x="184978" y="24713"/>
                  <a:pt x="189867" y="29669"/>
                  <a:pt x="194087" y="35161"/>
                </a:cubicBezTo>
                <a:lnTo>
                  <a:pt x="222215" y="33352"/>
                </a:lnTo>
                <a:cubicBezTo>
                  <a:pt x="230587" y="32817"/>
                  <a:pt x="238222" y="38308"/>
                  <a:pt x="240432" y="46412"/>
                </a:cubicBezTo>
                <a:lnTo>
                  <a:pt x="245120" y="63959"/>
                </a:lnTo>
                <a:cubicBezTo>
                  <a:pt x="247263" y="72063"/>
                  <a:pt x="243446" y="80635"/>
                  <a:pt x="235878" y="84386"/>
                </a:cubicBezTo>
                <a:lnTo>
                  <a:pt x="210629" y="96842"/>
                </a:lnTo>
                <a:cubicBezTo>
                  <a:pt x="210160" y="100258"/>
                  <a:pt x="209490" y="103674"/>
                  <a:pt x="208620" y="107022"/>
                </a:cubicBezTo>
                <a:cubicBezTo>
                  <a:pt x="207749" y="110371"/>
                  <a:pt x="206544" y="113720"/>
                  <a:pt x="205271" y="116867"/>
                </a:cubicBezTo>
                <a:lnTo>
                  <a:pt x="220876" y="140308"/>
                </a:lnTo>
                <a:cubicBezTo>
                  <a:pt x="225564" y="147340"/>
                  <a:pt x="224626" y="156649"/>
                  <a:pt x="218666" y="162610"/>
                </a:cubicBezTo>
                <a:lnTo>
                  <a:pt x="205807" y="175468"/>
                </a:lnTo>
                <a:cubicBezTo>
                  <a:pt x="199846" y="181429"/>
                  <a:pt x="190537" y="182367"/>
                  <a:pt x="183505" y="177678"/>
                </a:cubicBezTo>
                <a:lnTo>
                  <a:pt x="160065" y="162074"/>
                </a:lnTo>
                <a:cubicBezTo>
                  <a:pt x="153702" y="164686"/>
                  <a:pt x="146938" y="166561"/>
                  <a:pt x="140040" y="167499"/>
                </a:cubicBezTo>
                <a:lnTo>
                  <a:pt x="127583" y="192680"/>
                </a:lnTo>
                <a:cubicBezTo>
                  <a:pt x="123832" y="200248"/>
                  <a:pt x="115260" y="204066"/>
                  <a:pt x="107156" y="201923"/>
                </a:cubicBezTo>
                <a:lnTo>
                  <a:pt x="89609" y="197234"/>
                </a:lnTo>
                <a:cubicBezTo>
                  <a:pt x="81439" y="195024"/>
                  <a:pt x="76014" y="187389"/>
                  <a:pt x="76550" y="179018"/>
                </a:cubicBezTo>
                <a:lnTo>
                  <a:pt x="78358" y="150956"/>
                </a:lnTo>
                <a:cubicBezTo>
                  <a:pt x="72799" y="146670"/>
                  <a:pt x="67910" y="141714"/>
                  <a:pt x="63691" y="136222"/>
                </a:cubicBezTo>
                <a:lnTo>
                  <a:pt x="35562" y="138031"/>
                </a:lnTo>
                <a:cubicBezTo>
                  <a:pt x="27191" y="138566"/>
                  <a:pt x="19556" y="133075"/>
                  <a:pt x="17346" y="124971"/>
                </a:cubicBezTo>
                <a:lnTo>
                  <a:pt x="12658" y="107424"/>
                </a:lnTo>
                <a:cubicBezTo>
                  <a:pt x="10515" y="99320"/>
                  <a:pt x="14332" y="90748"/>
                  <a:pt x="21900" y="86997"/>
                </a:cubicBezTo>
                <a:lnTo>
                  <a:pt x="47149" y="74541"/>
                </a:lnTo>
                <a:cubicBezTo>
                  <a:pt x="47618" y="71125"/>
                  <a:pt x="48287" y="67776"/>
                  <a:pt x="49158" y="64361"/>
                </a:cubicBezTo>
                <a:cubicBezTo>
                  <a:pt x="50096" y="60945"/>
                  <a:pt x="51167" y="57663"/>
                  <a:pt x="52507" y="54516"/>
                </a:cubicBezTo>
                <a:lnTo>
                  <a:pt x="36902" y="31142"/>
                </a:lnTo>
                <a:cubicBezTo>
                  <a:pt x="32214" y="24110"/>
                  <a:pt x="33151" y="14801"/>
                  <a:pt x="39112" y="8840"/>
                </a:cubicBezTo>
                <a:lnTo>
                  <a:pt x="51971" y="-4018"/>
                </a:lnTo>
                <a:cubicBezTo>
                  <a:pt x="57931" y="-9979"/>
                  <a:pt x="67241" y="-10917"/>
                  <a:pt x="74273" y="-6228"/>
                </a:cubicBezTo>
                <a:lnTo>
                  <a:pt x="97713" y="9376"/>
                </a:lnTo>
                <a:cubicBezTo>
                  <a:pt x="104076" y="6764"/>
                  <a:pt x="110840" y="4889"/>
                  <a:pt x="117738" y="3951"/>
                </a:cubicBezTo>
                <a:lnTo>
                  <a:pt x="130195" y="-21230"/>
                </a:lnTo>
                <a:cubicBezTo>
                  <a:pt x="133945" y="-28798"/>
                  <a:pt x="142451" y="-32616"/>
                  <a:pt x="150622" y="-30473"/>
                </a:cubicBezTo>
                <a:close/>
                <a:moveTo>
                  <a:pt x="128855" y="56257"/>
                </a:moveTo>
                <a:cubicBezTo>
                  <a:pt x="112592" y="56257"/>
                  <a:pt x="99387" y="69461"/>
                  <a:pt x="99387" y="85725"/>
                </a:cubicBezTo>
                <a:cubicBezTo>
                  <a:pt x="99387" y="101989"/>
                  <a:pt x="112592" y="115193"/>
                  <a:pt x="128855" y="115193"/>
                </a:cubicBezTo>
                <a:cubicBezTo>
                  <a:pt x="145119" y="115193"/>
                  <a:pt x="158323" y="101989"/>
                  <a:pt x="158323" y="85725"/>
                </a:cubicBezTo>
                <a:cubicBezTo>
                  <a:pt x="158323" y="69461"/>
                  <a:pt x="145119" y="56257"/>
                  <a:pt x="128855" y="562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044851" y="3769519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67460" y="411241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Resize &amp; Normalize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24550" y="334407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6605" y="186586"/>
                </a:moveTo>
                <a:cubicBezTo>
                  <a:pt x="344976" y="178214"/>
                  <a:pt x="344976" y="164619"/>
                  <a:pt x="336605" y="156247"/>
                </a:cubicBezTo>
                <a:lnTo>
                  <a:pt x="229448" y="49091"/>
                </a:lnTo>
                <a:cubicBezTo>
                  <a:pt x="221077" y="40719"/>
                  <a:pt x="207481" y="40719"/>
                  <a:pt x="199110" y="49091"/>
                </a:cubicBezTo>
                <a:cubicBezTo>
                  <a:pt x="190738" y="57463"/>
                  <a:pt x="190738" y="71058"/>
                  <a:pt x="199110" y="79430"/>
                </a:cubicBezTo>
                <a:lnTo>
                  <a:pt x="269699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269699" y="192881"/>
                </a:lnTo>
                <a:lnTo>
                  <a:pt x="199110" y="263470"/>
                </a:lnTo>
                <a:cubicBezTo>
                  <a:pt x="190738" y="271842"/>
                  <a:pt x="190738" y="285437"/>
                  <a:pt x="199110" y="293809"/>
                </a:cubicBezTo>
                <a:cubicBezTo>
                  <a:pt x="207481" y="302181"/>
                  <a:pt x="221077" y="302181"/>
                  <a:pt x="229448" y="293809"/>
                </a:cubicBezTo>
                <a:lnTo>
                  <a:pt x="336605" y="18665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3028" y="27027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59E0B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8778" y="298846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049691" y="3769519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 Model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91437" y="4112419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13006" y="334407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6605" y="186586"/>
                </a:moveTo>
                <a:cubicBezTo>
                  <a:pt x="344976" y="178214"/>
                  <a:pt x="344976" y="164619"/>
                  <a:pt x="336605" y="156247"/>
                </a:cubicBezTo>
                <a:lnTo>
                  <a:pt x="229448" y="49091"/>
                </a:lnTo>
                <a:cubicBezTo>
                  <a:pt x="221077" y="40719"/>
                  <a:pt x="207481" y="40719"/>
                  <a:pt x="199110" y="49091"/>
                </a:cubicBezTo>
                <a:cubicBezTo>
                  <a:pt x="190738" y="57463"/>
                  <a:pt x="190738" y="71058"/>
                  <a:pt x="199110" y="79430"/>
                </a:cubicBezTo>
                <a:lnTo>
                  <a:pt x="269699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269699" y="192881"/>
                </a:lnTo>
                <a:lnTo>
                  <a:pt x="199110" y="263470"/>
                </a:lnTo>
                <a:cubicBezTo>
                  <a:pt x="190738" y="271842"/>
                  <a:pt x="190738" y="285437"/>
                  <a:pt x="199110" y="293809"/>
                </a:cubicBezTo>
                <a:cubicBezTo>
                  <a:pt x="207481" y="302181"/>
                  <a:pt x="221077" y="302181"/>
                  <a:pt x="229448" y="293809"/>
                </a:cubicBezTo>
                <a:lnTo>
                  <a:pt x="336605" y="18665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9971484" y="27027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B5CF6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57234" y="298846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227975" y="142451"/>
                </a:moveTo>
                <a:lnTo>
                  <a:pt x="174397" y="228176"/>
                </a:lnTo>
                <a:cubicBezTo>
                  <a:pt x="171584" y="232663"/>
                  <a:pt x="166762" y="235476"/>
                  <a:pt x="161471" y="235744"/>
                </a:cubicBezTo>
                <a:cubicBezTo>
                  <a:pt x="156180" y="236012"/>
                  <a:pt x="151090" y="233601"/>
                  <a:pt x="147943" y="229314"/>
                </a:cubicBezTo>
                <a:lnTo>
                  <a:pt x="115796" y="186452"/>
                </a:lnTo>
                <a:cubicBezTo>
                  <a:pt x="110438" y="179353"/>
                  <a:pt x="111911" y="169307"/>
                  <a:pt x="119010" y="163949"/>
                </a:cubicBezTo>
                <a:cubicBezTo>
                  <a:pt x="126110" y="158591"/>
                  <a:pt x="136155" y="160065"/>
                  <a:pt x="141513" y="167164"/>
                </a:cubicBezTo>
                <a:lnTo>
                  <a:pt x="159596" y="191274"/>
                </a:lnTo>
                <a:lnTo>
                  <a:pt x="200717" y="125440"/>
                </a:lnTo>
                <a:cubicBezTo>
                  <a:pt x="205405" y="117939"/>
                  <a:pt x="215317" y="115595"/>
                  <a:pt x="222885" y="120350"/>
                </a:cubicBezTo>
                <a:cubicBezTo>
                  <a:pt x="230453" y="125105"/>
                  <a:pt x="232730" y="134950"/>
                  <a:pt x="227975" y="1425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998770" y="3769519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03197" y="4112419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&amp; Confidence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4874419"/>
            <a:ext cx="11410950" cy="771525"/>
          </a:xfrm>
          <a:custGeom>
            <a:avLst/>
            <a:gdLst/>
            <a:ahLst/>
            <a:cxnLst/>
            <a:rect l="l" t="t" r="r" b="b"/>
            <a:pathLst>
              <a:path w="11410950" h="771525">
                <a:moveTo>
                  <a:pt x="38100" y="0"/>
                </a:moveTo>
                <a:lnTo>
                  <a:pt x="11296649" y="0"/>
                </a:lnTo>
                <a:cubicBezTo>
                  <a:pt x="11359776" y="0"/>
                  <a:pt x="11410950" y="51174"/>
                  <a:pt x="11410950" y="114301"/>
                </a:cubicBezTo>
                <a:lnTo>
                  <a:pt x="11410950" y="657224"/>
                </a:lnTo>
                <a:cubicBezTo>
                  <a:pt x="11410950" y="720351"/>
                  <a:pt x="11359776" y="771525"/>
                  <a:pt x="11296649" y="771525"/>
                </a:cubicBezTo>
                <a:lnTo>
                  <a:pt x="38100" y="771525"/>
                </a:lnTo>
                <a:cubicBezTo>
                  <a:pt x="17072" y="771525"/>
                  <a:pt x="0" y="754453"/>
                  <a:pt x="0" y="733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8B5CF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400050" y="4874419"/>
            <a:ext cx="38100" cy="771525"/>
          </a:xfrm>
          <a:custGeom>
            <a:avLst/>
            <a:gdLst/>
            <a:ahLst/>
            <a:cxnLst/>
            <a:rect l="l" t="t" r="r" b="b"/>
            <a:pathLst>
              <a:path w="38100" h="771525">
                <a:moveTo>
                  <a:pt x="38100" y="0"/>
                </a:moveTo>
                <a:lnTo>
                  <a:pt x="38100" y="0"/>
                </a:lnTo>
                <a:lnTo>
                  <a:pt x="38100" y="771525"/>
                </a:lnTo>
                <a:lnTo>
                  <a:pt x="38100" y="771525"/>
                </a:lnTo>
                <a:cubicBezTo>
                  <a:pt x="17072" y="771525"/>
                  <a:pt x="0" y="754453"/>
                  <a:pt x="0" y="733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71513" y="51538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971550" y="5103019"/>
            <a:ext cx="10706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Workflow:</a:t>
            </a: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 processes input image through preprocessing, CNN model, and outputs prediction via interface.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45720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47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Workflow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1000" y="2781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3850" y="2781300"/>
            <a:ext cx="87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8764" y="3657600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95400" y="3314700"/>
            <a:ext cx="714375" cy="38100"/>
          </a:xfrm>
          <a:custGeom>
            <a:avLst/>
            <a:gdLst/>
            <a:ahLst/>
            <a:cxnLst/>
            <a:rect l="l" t="t" r="r" b="b"/>
            <a:pathLst>
              <a:path w="714375" h="38100">
                <a:moveTo>
                  <a:pt x="0" y="0"/>
                </a:moveTo>
                <a:lnTo>
                  <a:pt x="714375" y="0"/>
                </a:lnTo>
                <a:lnTo>
                  <a:pt x="7143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2159000" y="2781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10B981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1850" y="2781300"/>
            <a:ext cx="87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20826" y="36576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Resize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73400" y="3314700"/>
            <a:ext cx="714375" cy="38100"/>
          </a:xfrm>
          <a:custGeom>
            <a:avLst/>
            <a:gdLst/>
            <a:ahLst/>
            <a:cxnLst/>
            <a:rect l="l" t="t" r="r" b="b"/>
            <a:pathLst>
              <a:path w="714375" h="38100">
                <a:moveTo>
                  <a:pt x="0" y="0"/>
                </a:moveTo>
                <a:lnTo>
                  <a:pt x="714375" y="0"/>
                </a:lnTo>
                <a:lnTo>
                  <a:pt x="7143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7000" y="2781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59E0B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79850" y="2781300"/>
            <a:ext cx="87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978" y="3657600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51400" y="3314700"/>
            <a:ext cx="714375" cy="38100"/>
          </a:xfrm>
          <a:custGeom>
            <a:avLst/>
            <a:gdLst/>
            <a:ahLst/>
            <a:cxnLst/>
            <a:rect l="l" t="t" r="r" b="b"/>
            <a:pathLst>
              <a:path w="714375" h="38100">
                <a:moveTo>
                  <a:pt x="0" y="0"/>
                </a:moveTo>
                <a:lnTo>
                  <a:pt x="714375" y="0"/>
                </a:lnTo>
                <a:lnTo>
                  <a:pt x="7143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0" y="2781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8B5CF6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57850" y="2781300"/>
            <a:ext cx="87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31694" y="3657600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29400" y="3314700"/>
            <a:ext cx="714375" cy="38100"/>
          </a:xfrm>
          <a:custGeom>
            <a:avLst/>
            <a:gdLst/>
            <a:ahLst/>
            <a:cxnLst/>
            <a:rect l="l" t="t" r="r" b="b"/>
            <a:pathLst>
              <a:path w="714375" h="38100">
                <a:moveTo>
                  <a:pt x="0" y="0"/>
                </a:moveTo>
                <a:lnTo>
                  <a:pt x="714375" y="0"/>
                </a:lnTo>
                <a:lnTo>
                  <a:pt x="7143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3000" y="2781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EC4899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35850" y="2781300"/>
            <a:ext cx="87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60481" y="3657600"/>
            <a:ext cx="50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07400" y="3314700"/>
            <a:ext cx="714375" cy="38100"/>
          </a:xfrm>
          <a:custGeom>
            <a:avLst/>
            <a:gdLst/>
            <a:ahLst/>
            <a:cxnLst/>
            <a:rect l="l" t="t" r="r" b="b"/>
            <a:pathLst>
              <a:path w="714375" h="38100">
                <a:moveTo>
                  <a:pt x="0" y="0"/>
                </a:moveTo>
                <a:lnTo>
                  <a:pt x="714375" y="0"/>
                </a:lnTo>
                <a:lnTo>
                  <a:pt x="7143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6" name="Shape 24"/>
          <p:cNvSpPr/>
          <p:nvPr/>
        </p:nvSpPr>
        <p:spPr>
          <a:xfrm>
            <a:off x="9271000" y="2781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6B6D4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13850" y="2781300"/>
            <a:ext cx="87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73791" y="3657600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Sigmoid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85400" y="3314700"/>
            <a:ext cx="714375" cy="38100"/>
          </a:xfrm>
          <a:custGeom>
            <a:avLst/>
            <a:gdLst/>
            <a:ahLst/>
            <a:cxnLst/>
            <a:rect l="l" t="t" r="r" b="b"/>
            <a:pathLst>
              <a:path w="714375" h="38100">
                <a:moveTo>
                  <a:pt x="0" y="0"/>
                </a:moveTo>
                <a:lnTo>
                  <a:pt x="714375" y="0"/>
                </a:lnTo>
                <a:lnTo>
                  <a:pt x="7143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49000" y="2781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EF4444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991850" y="2781300"/>
            <a:ext cx="87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95050" y="365760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" y="4210050"/>
            <a:ext cx="1533525" cy="1047750"/>
          </a:xfrm>
          <a:custGeom>
            <a:avLst/>
            <a:gdLst/>
            <a:ahLst/>
            <a:cxnLst/>
            <a:rect l="l" t="t" r="r" b="b"/>
            <a:pathLst>
              <a:path w="1533525" h="104775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933451"/>
                </a:lnTo>
                <a:cubicBezTo>
                  <a:pt x="1533525" y="996577"/>
                  <a:pt x="1482352" y="1047750"/>
                  <a:pt x="14192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1000" y="4210050"/>
            <a:ext cx="1533525" cy="38100"/>
          </a:xfrm>
          <a:custGeom>
            <a:avLst/>
            <a:gdLst/>
            <a:ahLst/>
            <a:cxnLst/>
            <a:rect l="l" t="t" r="r" b="b"/>
            <a:pathLst>
              <a:path w="1533525" h="3810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533400" y="43815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Image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3400" y="4686300"/>
            <a:ext cx="1295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image data from user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030115" y="4210050"/>
            <a:ext cx="1533525" cy="1047750"/>
          </a:xfrm>
          <a:custGeom>
            <a:avLst/>
            <a:gdLst/>
            <a:ahLst/>
            <a:cxnLst/>
            <a:rect l="l" t="t" r="r" b="b"/>
            <a:pathLst>
              <a:path w="1533525" h="104775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933451"/>
                </a:lnTo>
                <a:cubicBezTo>
                  <a:pt x="1533525" y="996577"/>
                  <a:pt x="1482352" y="1047750"/>
                  <a:pt x="14192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30115" y="4210050"/>
            <a:ext cx="1533525" cy="38100"/>
          </a:xfrm>
          <a:custGeom>
            <a:avLst/>
            <a:gdLst/>
            <a:ahLst/>
            <a:cxnLst/>
            <a:rect l="l" t="t" r="r" b="b"/>
            <a:pathLst>
              <a:path w="1533525" h="3810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2182515" y="43815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Resize 32×32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182515" y="4686300"/>
            <a:ext cx="1295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 dimensions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79329" y="4210050"/>
            <a:ext cx="1533525" cy="1047750"/>
          </a:xfrm>
          <a:custGeom>
            <a:avLst/>
            <a:gdLst/>
            <a:ahLst/>
            <a:cxnLst/>
            <a:rect l="l" t="t" r="r" b="b"/>
            <a:pathLst>
              <a:path w="1533525" h="104775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933451"/>
                </a:lnTo>
                <a:cubicBezTo>
                  <a:pt x="1533525" y="996577"/>
                  <a:pt x="1482352" y="1047750"/>
                  <a:pt x="14192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79329" y="4210050"/>
            <a:ext cx="1533525" cy="38100"/>
          </a:xfrm>
          <a:custGeom>
            <a:avLst/>
            <a:gdLst/>
            <a:ahLst/>
            <a:cxnLst/>
            <a:rect l="l" t="t" r="r" b="b"/>
            <a:pathLst>
              <a:path w="1533525" h="3810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3831729" y="43815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0–1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831729" y="46863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pixel values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28543" y="4210050"/>
            <a:ext cx="1533525" cy="1047750"/>
          </a:xfrm>
          <a:custGeom>
            <a:avLst/>
            <a:gdLst/>
            <a:ahLst/>
            <a:cxnLst/>
            <a:rect l="l" t="t" r="r" b="b"/>
            <a:pathLst>
              <a:path w="1533525" h="104775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933451"/>
                </a:lnTo>
                <a:cubicBezTo>
                  <a:pt x="1533525" y="996577"/>
                  <a:pt x="1482352" y="1047750"/>
                  <a:pt x="14192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28543" y="4210050"/>
            <a:ext cx="1533525" cy="38100"/>
          </a:xfrm>
          <a:custGeom>
            <a:avLst/>
            <a:gdLst/>
            <a:ahLst/>
            <a:cxnLst/>
            <a:rect l="l" t="t" r="r" b="b"/>
            <a:pathLst>
              <a:path w="1533525" h="3810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5480943" y="43815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 Extraction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80943" y="46863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learning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977658" y="4210050"/>
            <a:ext cx="1533525" cy="1047750"/>
          </a:xfrm>
          <a:custGeom>
            <a:avLst/>
            <a:gdLst/>
            <a:ahLst/>
            <a:cxnLst/>
            <a:rect l="l" t="t" r="r" b="b"/>
            <a:pathLst>
              <a:path w="1533525" h="104775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933451"/>
                </a:lnTo>
                <a:cubicBezTo>
                  <a:pt x="1533525" y="996577"/>
                  <a:pt x="1482352" y="1047750"/>
                  <a:pt x="14192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77658" y="4210050"/>
            <a:ext cx="1533525" cy="38100"/>
          </a:xfrm>
          <a:custGeom>
            <a:avLst/>
            <a:gdLst/>
            <a:ahLst/>
            <a:cxnLst/>
            <a:rect l="l" t="t" r="r" b="b"/>
            <a:pathLst>
              <a:path w="1533525" h="3810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1" name="Text 49"/>
          <p:cNvSpPr/>
          <p:nvPr/>
        </p:nvSpPr>
        <p:spPr>
          <a:xfrm>
            <a:off x="7130058" y="43815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Layer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30058" y="4686300"/>
            <a:ext cx="1295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processing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626872" y="4210050"/>
            <a:ext cx="1533525" cy="1047750"/>
          </a:xfrm>
          <a:custGeom>
            <a:avLst/>
            <a:gdLst/>
            <a:ahLst/>
            <a:cxnLst/>
            <a:rect l="l" t="t" r="r" b="b"/>
            <a:pathLst>
              <a:path w="1533525" h="104775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933451"/>
                </a:lnTo>
                <a:cubicBezTo>
                  <a:pt x="1533525" y="996577"/>
                  <a:pt x="1482352" y="1047750"/>
                  <a:pt x="14192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26872" y="4210050"/>
            <a:ext cx="1533525" cy="38100"/>
          </a:xfrm>
          <a:custGeom>
            <a:avLst/>
            <a:gdLst/>
            <a:ahLst/>
            <a:cxnLst/>
            <a:rect l="l" t="t" r="r" b="b"/>
            <a:pathLst>
              <a:path w="1533525" h="3810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5" name="Text 53"/>
          <p:cNvSpPr/>
          <p:nvPr/>
        </p:nvSpPr>
        <p:spPr>
          <a:xfrm>
            <a:off x="8779272" y="43815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Sigmoid Output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779272" y="46863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score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276087" y="4210050"/>
            <a:ext cx="1533525" cy="1047750"/>
          </a:xfrm>
          <a:custGeom>
            <a:avLst/>
            <a:gdLst/>
            <a:ahLst/>
            <a:cxnLst/>
            <a:rect l="l" t="t" r="r" b="b"/>
            <a:pathLst>
              <a:path w="1533525" h="104775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933451"/>
                </a:lnTo>
                <a:cubicBezTo>
                  <a:pt x="1533525" y="996577"/>
                  <a:pt x="1482352" y="1047750"/>
                  <a:pt x="14192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0276087" y="4210050"/>
            <a:ext cx="1533525" cy="38100"/>
          </a:xfrm>
          <a:custGeom>
            <a:avLst/>
            <a:gdLst/>
            <a:ahLst/>
            <a:cxnLst/>
            <a:rect l="l" t="t" r="r" b="b"/>
            <a:pathLst>
              <a:path w="1533525" h="38100">
                <a:moveTo>
                  <a:pt x="38100" y="0"/>
                </a:moveTo>
                <a:lnTo>
                  <a:pt x="1495425" y="0"/>
                </a:lnTo>
                <a:cubicBezTo>
                  <a:pt x="1516453" y="0"/>
                  <a:pt x="1533525" y="17072"/>
                  <a:pt x="1533525" y="38100"/>
                </a:cubicBezTo>
                <a:lnTo>
                  <a:pt x="15335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9" name="Text 57"/>
          <p:cNvSpPr/>
          <p:nvPr/>
        </p:nvSpPr>
        <p:spPr>
          <a:xfrm>
            <a:off x="10428487" y="4381500"/>
            <a:ext cx="1304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Threshold Classify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428487" y="49149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prediction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2446" y="395684"/>
            <a:ext cx="38744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9736" y="725420"/>
            <a:ext cx="11730369" cy="395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16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Dataset &amp; Preprocessing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6223" y="1252998"/>
            <a:ext cx="5654978" cy="972722"/>
          </a:xfrm>
          <a:custGeom>
            <a:avLst/>
            <a:gdLst/>
            <a:ahLst/>
            <a:cxnLst/>
            <a:rect l="l" t="t" r="r" b="b"/>
            <a:pathLst>
              <a:path w="5654978" h="972722">
                <a:moveTo>
                  <a:pt x="32974" y="0"/>
                </a:moveTo>
                <a:lnTo>
                  <a:pt x="5556062" y="0"/>
                </a:lnTo>
                <a:cubicBezTo>
                  <a:pt x="5610691" y="0"/>
                  <a:pt x="5654978" y="44286"/>
                  <a:pt x="5654978" y="98916"/>
                </a:cubicBezTo>
                <a:lnTo>
                  <a:pt x="5654978" y="873806"/>
                </a:lnTo>
                <a:cubicBezTo>
                  <a:pt x="5654978" y="928436"/>
                  <a:pt x="5610691" y="972722"/>
                  <a:pt x="5556062" y="972722"/>
                </a:cubicBezTo>
                <a:lnTo>
                  <a:pt x="32974" y="972722"/>
                </a:lnTo>
                <a:cubicBezTo>
                  <a:pt x="14763" y="972722"/>
                  <a:pt x="0" y="957959"/>
                  <a:pt x="0" y="93974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6223" y="1252998"/>
            <a:ext cx="32974" cy="972722"/>
          </a:xfrm>
          <a:custGeom>
            <a:avLst/>
            <a:gdLst/>
            <a:ahLst/>
            <a:cxnLst/>
            <a:rect l="l" t="t" r="r" b="b"/>
            <a:pathLst>
              <a:path w="32974" h="972722">
                <a:moveTo>
                  <a:pt x="32974" y="0"/>
                </a:moveTo>
                <a:lnTo>
                  <a:pt x="32974" y="0"/>
                </a:lnTo>
                <a:lnTo>
                  <a:pt x="32974" y="972722"/>
                </a:lnTo>
                <a:lnTo>
                  <a:pt x="32974" y="972722"/>
                </a:lnTo>
                <a:cubicBezTo>
                  <a:pt x="14763" y="972722"/>
                  <a:pt x="0" y="957959"/>
                  <a:pt x="0" y="93974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27578" y="1417866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9708" y="1500300"/>
            <a:ext cx="185477" cy="164868"/>
          </a:xfrm>
          <a:custGeom>
            <a:avLst/>
            <a:gdLst/>
            <a:ahLst/>
            <a:cxnLst/>
            <a:rect l="l" t="t" r="r" b="b"/>
            <a:pathLst>
              <a:path w="185477" h="164868">
                <a:moveTo>
                  <a:pt x="18032" y="72645"/>
                </a:moveTo>
                <a:lnTo>
                  <a:pt x="10433" y="95379"/>
                </a:lnTo>
                <a:lnTo>
                  <a:pt x="10433" y="30913"/>
                </a:lnTo>
                <a:cubicBezTo>
                  <a:pt x="10433" y="19546"/>
                  <a:pt x="19675" y="10304"/>
                  <a:pt x="31042" y="10304"/>
                </a:cubicBezTo>
                <a:lnTo>
                  <a:pt x="75704" y="10304"/>
                </a:lnTo>
                <a:cubicBezTo>
                  <a:pt x="80148" y="10304"/>
                  <a:pt x="84495" y="11753"/>
                  <a:pt x="88069" y="14426"/>
                </a:cubicBezTo>
                <a:lnTo>
                  <a:pt x="100434" y="23700"/>
                </a:lnTo>
                <a:cubicBezTo>
                  <a:pt x="102205" y="25052"/>
                  <a:pt x="104395" y="25761"/>
                  <a:pt x="106617" y="25761"/>
                </a:cubicBezTo>
                <a:lnTo>
                  <a:pt x="144388" y="25761"/>
                </a:lnTo>
                <a:cubicBezTo>
                  <a:pt x="155755" y="25761"/>
                  <a:pt x="164997" y="35002"/>
                  <a:pt x="164997" y="46369"/>
                </a:cubicBezTo>
                <a:lnTo>
                  <a:pt x="164997" y="51521"/>
                </a:lnTo>
                <a:lnTo>
                  <a:pt x="47335" y="51521"/>
                </a:lnTo>
                <a:cubicBezTo>
                  <a:pt x="34036" y="51521"/>
                  <a:pt x="22219" y="60022"/>
                  <a:pt x="18000" y="72645"/>
                </a:cubicBezTo>
                <a:close/>
                <a:moveTo>
                  <a:pt x="153855" y="144260"/>
                </a:moveTo>
                <a:lnTo>
                  <a:pt x="31879" y="144260"/>
                </a:lnTo>
                <a:cubicBezTo>
                  <a:pt x="21317" y="144260"/>
                  <a:pt x="13879" y="133923"/>
                  <a:pt x="17227" y="123909"/>
                </a:cubicBezTo>
                <a:lnTo>
                  <a:pt x="32684" y="77540"/>
                </a:lnTo>
                <a:cubicBezTo>
                  <a:pt x="34777" y="71228"/>
                  <a:pt x="40702" y="66978"/>
                  <a:pt x="47335" y="66978"/>
                </a:cubicBezTo>
                <a:lnTo>
                  <a:pt x="169312" y="66978"/>
                </a:lnTo>
                <a:cubicBezTo>
                  <a:pt x="179874" y="66978"/>
                  <a:pt x="187312" y="77314"/>
                  <a:pt x="183963" y="87329"/>
                </a:cubicBezTo>
                <a:lnTo>
                  <a:pt x="168507" y="133698"/>
                </a:lnTo>
                <a:cubicBezTo>
                  <a:pt x="166414" y="140009"/>
                  <a:pt x="160489" y="144260"/>
                  <a:pt x="153855" y="14426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56235" y="1467327"/>
            <a:ext cx="1360162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7578" y="1846523"/>
            <a:ext cx="5374702" cy="21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vs FAKE images organized in separate directories for supervised learning.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6223" y="2357615"/>
            <a:ext cx="5654978" cy="972722"/>
          </a:xfrm>
          <a:custGeom>
            <a:avLst/>
            <a:gdLst/>
            <a:ahLst/>
            <a:cxnLst/>
            <a:rect l="l" t="t" r="r" b="b"/>
            <a:pathLst>
              <a:path w="5654978" h="972722">
                <a:moveTo>
                  <a:pt x="32974" y="0"/>
                </a:moveTo>
                <a:lnTo>
                  <a:pt x="5556062" y="0"/>
                </a:lnTo>
                <a:cubicBezTo>
                  <a:pt x="5610691" y="0"/>
                  <a:pt x="5654978" y="44286"/>
                  <a:pt x="5654978" y="98916"/>
                </a:cubicBezTo>
                <a:lnTo>
                  <a:pt x="5654978" y="873806"/>
                </a:lnTo>
                <a:cubicBezTo>
                  <a:pt x="5654978" y="928436"/>
                  <a:pt x="5610691" y="972722"/>
                  <a:pt x="5556062" y="972722"/>
                </a:cubicBezTo>
                <a:lnTo>
                  <a:pt x="32974" y="972722"/>
                </a:lnTo>
                <a:cubicBezTo>
                  <a:pt x="14763" y="972722"/>
                  <a:pt x="0" y="957959"/>
                  <a:pt x="0" y="93974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6223" y="2357615"/>
            <a:ext cx="32974" cy="972722"/>
          </a:xfrm>
          <a:custGeom>
            <a:avLst/>
            <a:gdLst/>
            <a:ahLst/>
            <a:cxnLst/>
            <a:rect l="l" t="t" r="r" b="b"/>
            <a:pathLst>
              <a:path w="32974" h="972722">
                <a:moveTo>
                  <a:pt x="32974" y="0"/>
                </a:moveTo>
                <a:lnTo>
                  <a:pt x="32974" y="0"/>
                </a:lnTo>
                <a:lnTo>
                  <a:pt x="32974" y="972722"/>
                </a:lnTo>
                <a:lnTo>
                  <a:pt x="32974" y="972722"/>
                </a:lnTo>
                <a:cubicBezTo>
                  <a:pt x="14763" y="972722"/>
                  <a:pt x="0" y="957959"/>
                  <a:pt x="0" y="93974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27578" y="2522483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99708" y="2604917"/>
            <a:ext cx="185477" cy="164868"/>
          </a:xfrm>
          <a:custGeom>
            <a:avLst/>
            <a:gdLst/>
            <a:ahLst/>
            <a:cxnLst/>
            <a:rect l="l" t="t" r="r" b="b"/>
            <a:pathLst>
              <a:path w="185477" h="164868">
                <a:moveTo>
                  <a:pt x="129190" y="12591"/>
                </a:moveTo>
                <a:lnTo>
                  <a:pt x="176911" y="60988"/>
                </a:lnTo>
                <a:cubicBezTo>
                  <a:pt x="185831" y="70037"/>
                  <a:pt x="185831" y="84527"/>
                  <a:pt x="176911" y="93576"/>
                </a:cubicBezTo>
                <a:lnTo>
                  <a:pt x="126549" y="144549"/>
                </a:lnTo>
                <a:cubicBezTo>
                  <a:pt x="123555" y="147576"/>
                  <a:pt x="118660" y="147609"/>
                  <a:pt x="115633" y="144614"/>
                </a:cubicBezTo>
                <a:cubicBezTo>
                  <a:pt x="112606" y="141619"/>
                  <a:pt x="112574" y="136725"/>
                  <a:pt x="115569" y="133698"/>
                </a:cubicBezTo>
                <a:lnTo>
                  <a:pt x="165931" y="82692"/>
                </a:lnTo>
                <a:cubicBezTo>
                  <a:pt x="168893" y="79697"/>
                  <a:pt x="168893" y="74835"/>
                  <a:pt x="165931" y="71840"/>
                </a:cubicBezTo>
                <a:lnTo>
                  <a:pt x="118177" y="23474"/>
                </a:lnTo>
                <a:cubicBezTo>
                  <a:pt x="115182" y="20448"/>
                  <a:pt x="115215" y="15553"/>
                  <a:pt x="118241" y="12558"/>
                </a:cubicBezTo>
                <a:cubicBezTo>
                  <a:pt x="121268" y="9564"/>
                  <a:pt x="126163" y="9596"/>
                  <a:pt x="129157" y="12623"/>
                </a:cubicBezTo>
                <a:close/>
                <a:moveTo>
                  <a:pt x="10336" y="73901"/>
                </a:moveTo>
                <a:lnTo>
                  <a:pt x="10336" y="30913"/>
                </a:lnTo>
                <a:cubicBezTo>
                  <a:pt x="10336" y="19546"/>
                  <a:pt x="19578" y="10304"/>
                  <a:pt x="30945" y="10304"/>
                </a:cubicBezTo>
                <a:lnTo>
                  <a:pt x="73933" y="10304"/>
                </a:lnTo>
                <a:cubicBezTo>
                  <a:pt x="79407" y="10304"/>
                  <a:pt x="84656" y="12462"/>
                  <a:pt x="88520" y="16326"/>
                </a:cubicBezTo>
                <a:lnTo>
                  <a:pt x="134889" y="62695"/>
                </a:lnTo>
                <a:cubicBezTo>
                  <a:pt x="142939" y="70745"/>
                  <a:pt x="142939" y="83787"/>
                  <a:pt x="134889" y="91837"/>
                </a:cubicBezTo>
                <a:lnTo>
                  <a:pt x="91901" y="134825"/>
                </a:lnTo>
                <a:cubicBezTo>
                  <a:pt x="83851" y="142875"/>
                  <a:pt x="70810" y="142875"/>
                  <a:pt x="62759" y="134825"/>
                </a:cubicBezTo>
                <a:lnTo>
                  <a:pt x="16390" y="88456"/>
                </a:lnTo>
                <a:cubicBezTo>
                  <a:pt x="12526" y="84592"/>
                  <a:pt x="10369" y="79343"/>
                  <a:pt x="10369" y="73869"/>
                </a:cubicBezTo>
                <a:close/>
                <a:moveTo>
                  <a:pt x="56706" y="46369"/>
                </a:moveTo>
                <a:cubicBezTo>
                  <a:pt x="56706" y="40682"/>
                  <a:pt x="52088" y="36065"/>
                  <a:pt x="46401" y="36065"/>
                </a:cubicBezTo>
                <a:cubicBezTo>
                  <a:pt x="40714" y="36065"/>
                  <a:pt x="36097" y="40682"/>
                  <a:pt x="36097" y="46369"/>
                </a:cubicBezTo>
                <a:cubicBezTo>
                  <a:pt x="36097" y="52056"/>
                  <a:pt x="40714" y="56673"/>
                  <a:pt x="46401" y="56673"/>
                </a:cubicBezTo>
                <a:cubicBezTo>
                  <a:pt x="52088" y="56673"/>
                  <a:pt x="56706" y="52056"/>
                  <a:pt x="56706" y="4636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56235" y="2571943"/>
            <a:ext cx="1920714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Directory-based Labeling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7578" y="2951140"/>
            <a:ext cx="5374702" cy="21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label assignment based on folder structure for training data.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6223" y="3462231"/>
            <a:ext cx="5654978" cy="972722"/>
          </a:xfrm>
          <a:custGeom>
            <a:avLst/>
            <a:gdLst/>
            <a:ahLst/>
            <a:cxnLst/>
            <a:rect l="l" t="t" r="r" b="b"/>
            <a:pathLst>
              <a:path w="5654978" h="972722">
                <a:moveTo>
                  <a:pt x="32974" y="0"/>
                </a:moveTo>
                <a:lnTo>
                  <a:pt x="5556062" y="0"/>
                </a:lnTo>
                <a:cubicBezTo>
                  <a:pt x="5610691" y="0"/>
                  <a:pt x="5654978" y="44286"/>
                  <a:pt x="5654978" y="98916"/>
                </a:cubicBezTo>
                <a:lnTo>
                  <a:pt x="5654978" y="873806"/>
                </a:lnTo>
                <a:cubicBezTo>
                  <a:pt x="5654978" y="928436"/>
                  <a:pt x="5610691" y="972722"/>
                  <a:pt x="5556062" y="972722"/>
                </a:cubicBezTo>
                <a:lnTo>
                  <a:pt x="32974" y="972722"/>
                </a:lnTo>
                <a:cubicBezTo>
                  <a:pt x="14763" y="972722"/>
                  <a:pt x="0" y="957959"/>
                  <a:pt x="0" y="93974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6223" y="3462231"/>
            <a:ext cx="32974" cy="972722"/>
          </a:xfrm>
          <a:custGeom>
            <a:avLst/>
            <a:gdLst/>
            <a:ahLst/>
            <a:cxnLst/>
            <a:rect l="l" t="t" r="r" b="b"/>
            <a:pathLst>
              <a:path w="32974" h="972722">
                <a:moveTo>
                  <a:pt x="32974" y="0"/>
                </a:moveTo>
                <a:lnTo>
                  <a:pt x="32974" y="0"/>
                </a:lnTo>
                <a:lnTo>
                  <a:pt x="32974" y="972722"/>
                </a:lnTo>
                <a:lnTo>
                  <a:pt x="32974" y="972722"/>
                </a:lnTo>
                <a:cubicBezTo>
                  <a:pt x="14763" y="972722"/>
                  <a:pt x="0" y="957959"/>
                  <a:pt x="0" y="93974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27578" y="3627099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0316" y="3709533"/>
            <a:ext cx="144260" cy="164868"/>
          </a:xfrm>
          <a:custGeom>
            <a:avLst/>
            <a:gdLst/>
            <a:ahLst/>
            <a:cxnLst/>
            <a:rect l="l" t="t" r="r" b="b"/>
            <a:pathLst>
              <a:path w="144260" h="164868">
                <a:moveTo>
                  <a:pt x="10304" y="10304"/>
                </a:moveTo>
                <a:cubicBezTo>
                  <a:pt x="4605" y="10304"/>
                  <a:pt x="0" y="14909"/>
                  <a:pt x="0" y="20609"/>
                </a:cubicBezTo>
                <a:lnTo>
                  <a:pt x="0" y="51521"/>
                </a:lnTo>
                <a:cubicBezTo>
                  <a:pt x="0" y="57221"/>
                  <a:pt x="4605" y="61826"/>
                  <a:pt x="10304" y="61826"/>
                </a:cubicBezTo>
                <a:cubicBezTo>
                  <a:pt x="16004" y="61826"/>
                  <a:pt x="20609" y="57221"/>
                  <a:pt x="20609" y="51521"/>
                </a:cubicBezTo>
                <a:lnTo>
                  <a:pt x="20609" y="30913"/>
                </a:lnTo>
                <a:lnTo>
                  <a:pt x="41217" y="30913"/>
                </a:lnTo>
                <a:cubicBezTo>
                  <a:pt x="46917" y="30913"/>
                  <a:pt x="51521" y="26308"/>
                  <a:pt x="51521" y="20609"/>
                </a:cubicBezTo>
                <a:cubicBezTo>
                  <a:pt x="51521" y="14909"/>
                  <a:pt x="46917" y="10304"/>
                  <a:pt x="41217" y="10304"/>
                </a:cubicBezTo>
                <a:lnTo>
                  <a:pt x="10304" y="10304"/>
                </a:lnTo>
                <a:close/>
                <a:moveTo>
                  <a:pt x="20609" y="113347"/>
                </a:moveTo>
                <a:cubicBezTo>
                  <a:pt x="20609" y="107647"/>
                  <a:pt x="16004" y="103043"/>
                  <a:pt x="10304" y="103043"/>
                </a:cubicBezTo>
                <a:cubicBezTo>
                  <a:pt x="4605" y="103043"/>
                  <a:pt x="0" y="107647"/>
                  <a:pt x="0" y="113347"/>
                </a:cubicBezTo>
                <a:lnTo>
                  <a:pt x="0" y="144260"/>
                </a:lnTo>
                <a:cubicBezTo>
                  <a:pt x="0" y="149959"/>
                  <a:pt x="4605" y="154564"/>
                  <a:pt x="10304" y="154564"/>
                </a:cubicBezTo>
                <a:lnTo>
                  <a:pt x="41217" y="154564"/>
                </a:lnTo>
                <a:cubicBezTo>
                  <a:pt x="46917" y="154564"/>
                  <a:pt x="51521" y="149959"/>
                  <a:pt x="51521" y="144260"/>
                </a:cubicBezTo>
                <a:cubicBezTo>
                  <a:pt x="51521" y="138560"/>
                  <a:pt x="46917" y="133955"/>
                  <a:pt x="41217" y="133955"/>
                </a:cubicBezTo>
                <a:lnTo>
                  <a:pt x="20609" y="133955"/>
                </a:lnTo>
                <a:lnTo>
                  <a:pt x="20609" y="113347"/>
                </a:lnTo>
                <a:close/>
                <a:moveTo>
                  <a:pt x="103043" y="10304"/>
                </a:moveTo>
                <a:cubicBezTo>
                  <a:pt x="97343" y="10304"/>
                  <a:pt x="92738" y="14909"/>
                  <a:pt x="92738" y="20609"/>
                </a:cubicBezTo>
                <a:cubicBezTo>
                  <a:pt x="92738" y="26308"/>
                  <a:pt x="97343" y="30913"/>
                  <a:pt x="103043" y="30913"/>
                </a:cubicBezTo>
                <a:lnTo>
                  <a:pt x="123651" y="30913"/>
                </a:lnTo>
                <a:lnTo>
                  <a:pt x="123651" y="51521"/>
                </a:lnTo>
                <a:cubicBezTo>
                  <a:pt x="123651" y="57221"/>
                  <a:pt x="128256" y="61826"/>
                  <a:pt x="133955" y="61826"/>
                </a:cubicBezTo>
                <a:cubicBezTo>
                  <a:pt x="139655" y="61826"/>
                  <a:pt x="144260" y="57221"/>
                  <a:pt x="144260" y="51521"/>
                </a:cubicBezTo>
                <a:lnTo>
                  <a:pt x="144260" y="20609"/>
                </a:lnTo>
                <a:cubicBezTo>
                  <a:pt x="144260" y="14909"/>
                  <a:pt x="139655" y="10304"/>
                  <a:pt x="133955" y="10304"/>
                </a:cubicBezTo>
                <a:lnTo>
                  <a:pt x="103043" y="10304"/>
                </a:lnTo>
                <a:close/>
                <a:moveTo>
                  <a:pt x="144260" y="113347"/>
                </a:moveTo>
                <a:cubicBezTo>
                  <a:pt x="144260" y="107647"/>
                  <a:pt x="139655" y="103043"/>
                  <a:pt x="133955" y="103043"/>
                </a:cubicBezTo>
                <a:cubicBezTo>
                  <a:pt x="128256" y="103043"/>
                  <a:pt x="123651" y="107647"/>
                  <a:pt x="123651" y="113347"/>
                </a:cubicBezTo>
                <a:lnTo>
                  <a:pt x="123651" y="133955"/>
                </a:lnTo>
                <a:lnTo>
                  <a:pt x="103043" y="133955"/>
                </a:lnTo>
                <a:cubicBezTo>
                  <a:pt x="97343" y="133955"/>
                  <a:pt x="92738" y="138560"/>
                  <a:pt x="92738" y="144260"/>
                </a:cubicBezTo>
                <a:cubicBezTo>
                  <a:pt x="92738" y="149959"/>
                  <a:pt x="97343" y="154564"/>
                  <a:pt x="103043" y="154564"/>
                </a:cubicBezTo>
                <a:lnTo>
                  <a:pt x="133955" y="154564"/>
                </a:lnTo>
                <a:cubicBezTo>
                  <a:pt x="139655" y="154564"/>
                  <a:pt x="144260" y="149959"/>
                  <a:pt x="144260" y="144260"/>
                </a:cubicBezTo>
                <a:lnTo>
                  <a:pt x="144260" y="113347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56235" y="3676560"/>
            <a:ext cx="1813550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Resizing (32×32)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7578" y="4055757"/>
            <a:ext cx="5374702" cy="21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 all images to uniform dimensions for consistent model input.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6223" y="4566848"/>
            <a:ext cx="5654978" cy="972722"/>
          </a:xfrm>
          <a:custGeom>
            <a:avLst/>
            <a:gdLst/>
            <a:ahLst/>
            <a:cxnLst/>
            <a:rect l="l" t="t" r="r" b="b"/>
            <a:pathLst>
              <a:path w="5654978" h="972722">
                <a:moveTo>
                  <a:pt x="32974" y="0"/>
                </a:moveTo>
                <a:lnTo>
                  <a:pt x="5556062" y="0"/>
                </a:lnTo>
                <a:cubicBezTo>
                  <a:pt x="5610691" y="0"/>
                  <a:pt x="5654978" y="44286"/>
                  <a:pt x="5654978" y="98916"/>
                </a:cubicBezTo>
                <a:lnTo>
                  <a:pt x="5654978" y="873806"/>
                </a:lnTo>
                <a:cubicBezTo>
                  <a:pt x="5654978" y="928436"/>
                  <a:pt x="5610691" y="972722"/>
                  <a:pt x="5556062" y="972722"/>
                </a:cubicBezTo>
                <a:lnTo>
                  <a:pt x="32974" y="972722"/>
                </a:lnTo>
                <a:cubicBezTo>
                  <a:pt x="14763" y="972722"/>
                  <a:pt x="0" y="957959"/>
                  <a:pt x="0" y="93974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6223" y="4566848"/>
            <a:ext cx="32974" cy="972722"/>
          </a:xfrm>
          <a:custGeom>
            <a:avLst/>
            <a:gdLst/>
            <a:ahLst/>
            <a:cxnLst/>
            <a:rect l="l" t="t" r="r" b="b"/>
            <a:pathLst>
              <a:path w="32974" h="972722">
                <a:moveTo>
                  <a:pt x="32974" y="0"/>
                </a:moveTo>
                <a:lnTo>
                  <a:pt x="32974" y="0"/>
                </a:lnTo>
                <a:lnTo>
                  <a:pt x="32974" y="972722"/>
                </a:lnTo>
                <a:lnTo>
                  <a:pt x="32974" y="972722"/>
                </a:lnTo>
                <a:cubicBezTo>
                  <a:pt x="14763" y="972722"/>
                  <a:pt x="0" y="957959"/>
                  <a:pt x="0" y="93974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27578" y="4731716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10012" y="4814150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10304" y="20609"/>
                </a:moveTo>
                <a:cubicBezTo>
                  <a:pt x="4605" y="20609"/>
                  <a:pt x="0" y="25213"/>
                  <a:pt x="0" y="30913"/>
                </a:cubicBezTo>
                <a:cubicBezTo>
                  <a:pt x="0" y="36612"/>
                  <a:pt x="4605" y="41217"/>
                  <a:pt x="10304" y="41217"/>
                </a:cubicBezTo>
                <a:lnTo>
                  <a:pt x="38222" y="41217"/>
                </a:lnTo>
                <a:cubicBezTo>
                  <a:pt x="42183" y="50330"/>
                  <a:pt x="51264" y="56673"/>
                  <a:pt x="61826" y="56673"/>
                </a:cubicBezTo>
                <a:cubicBezTo>
                  <a:pt x="72387" y="56673"/>
                  <a:pt x="81468" y="50330"/>
                  <a:pt x="85429" y="41217"/>
                </a:cubicBezTo>
                <a:lnTo>
                  <a:pt x="154564" y="41217"/>
                </a:lnTo>
                <a:cubicBezTo>
                  <a:pt x="160263" y="41217"/>
                  <a:pt x="164868" y="36612"/>
                  <a:pt x="164868" y="30913"/>
                </a:cubicBezTo>
                <a:cubicBezTo>
                  <a:pt x="164868" y="25213"/>
                  <a:pt x="160263" y="20609"/>
                  <a:pt x="154564" y="20609"/>
                </a:cubicBezTo>
                <a:lnTo>
                  <a:pt x="85429" y="20609"/>
                </a:lnTo>
                <a:cubicBezTo>
                  <a:pt x="81468" y="11496"/>
                  <a:pt x="72387" y="5152"/>
                  <a:pt x="61826" y="5152"/>
                </a:cubicBezTo>
                <a:cubicBezTo>
                  <a:pt x="51264" y="5152"/>
                  <a:pt x="42183" y="11496"/>
                  <a:pt x="38222" y="20609"/>
                </a:cubicBezTo>
                <a:lnTo>
                  <a:pt x="10304" y="20609"/>
                </a:lnTo>
                <a:close/>
                <a:moveTo>
                  <a:pt x="10304" y="72130"/>
                </a:moveTo>
                <a:cubicBezTo>
                  <a:pt x="4605" y="72130"/>
                  <a:pt x="0" y="76735"/>
                  <a:pt x="0" y="82434"/>
                </a:cubicBezTo>
                <a:cubicBezTo>
                  <a:pt x="0" y="88134"/>
                  <a:pt x="4605" y="92738"/>
                  <a:pt x="10304" y="92738"/>
                </a:cubicBezTo>
                <a:lnTo>
                  <a:pt x="89744" y="92738"/>
                </a:lnTo>
                <a:cubicBezTo>
                  <a:pt x="93704" y="101851"/>
                  <a:pt x="102785" y="108195"/>
                  <a:pt x="113347" y="108195"/>
                </a:cubicBezTo>
                <a:cubicBezTo>
                  <a:pt x="123909" y="108195"/>
                  <a:pt x="132989" y="101851"/>
                  <a:pt x="136950" y="92738"/>
                </a:cubicBezTo>
                <a:lnTo>
                  <a:pt x="154564" y="92738"/>
                </a:lnTo>
                <a:cubicBezTo>
                  <a:pt x="160263" y="92738"/>
                  <a:pt x="164868" y="88134"/>
                  <a:pt x="164868" y="82434"/>
                </a:cubicBezTo>
                <a:cubicBezTo>
                  <a:pt x="164868" y="76735"/>
                  <a:pt x="160263" y="72130"/>
                  <a:pt x="154564" y="72130"/>
                </a:cubicBezTo>
                <a:lnTo>
                  <a:pt x="136950" y="72130"/>
                </a:lnTo>
                <a:cubicBezTo>
                  <a:pt x="132989" y="63017"/>
                  <a:pt x="123909" y="56673"/>
                  <a:pt x="113347" y="56673"/>
                </a:cubicBezTo>
                <a:cubicBezTo>
                  <a:pt x="102785" y="56673"/>
                  <a:pt x="93704" y="63017"/>
                  <a:pt x="89744" y="72130"/>
                </a:cubicBezTo>
                <a:lnTo>
                  <a:pt x="10304" y="72130"/>
                </a:lnTo>
                <a:close/>
                <a:moveTo>
                  <a:pt x="10304" y="123651"/>
                </a:moveTo>
                <a:cubicBezTo>
                  <a:pt x="4605" y="123651"/>
                  <a:pt x="0" y="128256"/>
                  <a:pt x="0" y="133955"/>
                </a:cubicBezTo>
                <a:cubicBezTo>
                  <a:pt x="0" y="139655"/>
                  <a:pt x="4605" y="144260"/>
                  <a:pt x="10304" y="144260"/>
                </a:cubicBezTo>
                <a:lnTo>
                  <a:pt x="27918" y="144260"/>
                </a:lnTo>
                <a:cubicBezTo>
                  <a:pt x="31879" y="153372"/>
                  <a:pt x="40959" y="159716"/>
                  <a:pt x="51521" y="159716"/>
                </a:cubicBezTo>
                <a:cubicBezTo>
                  <a:pt x="62083" y="159716"/>
                  <a:pt x="71164" y="153372"/>
                  <a:pt x="75124" y="144260"/>
                </a:cubicBezTo>
                <a:lnTo>
                  <a:pt x="154564" y="144260"/>
                </a:lnTo>
                <a:cubicBezTo>
                  <a:pt x="160263" y="144260"/>
                  <a:pt x="164868" y="139655"/>
                  <a:pt x="164868" y="133955"/>
                </a:cubicBezTo>
                <a:cubicBezTo>
                  <a:pt x="164868" y="128256"/>
                  <a:pt x="160263" y="123651"/>
                  <a:pt x="154564" y="123651"/>
                </a:cubicBezTo>
                <a:lnTo>
                  <a:pt x="75124" y="123651"/>
                </a:lnTo>
                <a:cubicBezTo>
                  <a:pt x="71164" y="114538"/>
                  <a:pt x="62083" y="108195"/>
                  <a:pt x="51521" y="108195"/>
                </a:cubicBezTo>
                <a:cubicBezTo>
                  <a:pt x="40959" y="108195"/>
                  <a:pt x="31879" y="114538"/>
                  <a:pt x="27918" y="123651"/>
                </a:cubicBezTo>
                <a:lnTo>
                  <a:pt x="10304" y="123651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956235" y="4781176"/>
            <a:ext cx="1508544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Normalization (0–1)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7578" y="5160373"/>
            <a:ext cx="5374702" cy="21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pixel values to range [0,1] for improved model convergence.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6223" y="5671465"/>
            <a:ext cx="5654978" cy="972722"/>
          </a:xfrm>
          <a:custGeom>
            <a:avLst/>
            <a:gdLst/>
            <a:ahLst/>
            <a:cxnLst/>
            <a:rect l="l" t="t" r="r" b="b"/>
            <a:pathLst>
              <a:path w="5654978" h="972722">
                <a:moveTo>
                  <a:pt x="32974" y="0"/>
                </a:moveTo>
                <a:lnTo>
                  <a:pt x="5556062" y="0"/>
                </a:lnTo>
                <a:cubicBezTo>
                  <a:pt x="5610691" y="0"/>
                  <a:pt x="5654978" y="44286"/>
                  <a:pt x="5654978" y="98916"/>
                </a:cubicBezTo>
                <a:lnTo>
                  <a:pt x="5654978" y="873806"/>
                </a:lnTo>
                <a:cubicBezTo>
                  <a:pt x="5654978" y="928436"/>
                  <a:pt x="5610691" y="972722"/>
                  <a:pt x="5556062" y="972722"/>
                </a:cubicBezTo>
                <a:lnTo>
                  <a:pt x="32974" y="972722"/>
                </a:lnTo>
                <a:cubicBezTo>
                  <a:pt x="14763" y="972722"/>
                  <a:pt x="0" y="957959"/>
                  <a:pt x="0" y="93974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6223" y="5671465"/>
            <a:ext cx="32974" cy="972722"/>
          </a:xfrm>
          <a:custGeom>
            <a:avLst/>
            <a:gdLst/>
            <a:ahLst/>
            <a:cxnLst/>
            <a:rect l="l" t="t" r="r" b="b"/>
            <a:pathLst>
              <a:path w="32974" h="972722">
                <a:moveTo>
                  <a:pt x="32974" y="0"/>
                </a:moveTo>
                <a:lnTo>
                  <a:pt x="32974" y="0"/>
                </a:lnTo>
                <a:lnTo>
                  <a:pt x="32974" y="972722"/>
                </a:lnTo>
                <a:lnTo>
                  <a:pt x="32974" y="972722"/>
                </a:lnTo>
                <a:cubicBezTo>
                  <a:pt x="14763" y="972722"/>
                  <a:pt x="0" y="957959"/>
                  <a:pt x="0" y="93974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2" name="Shape 30"/>
          <p:cNvSpPr/>
          <p:nvPr/>
        </p:nvSpPr>
        <p:spPr>
          <a:xfrm>
            <a:off x="527578" y="5836333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10012" y="5918767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130027" y="11077"/>
                </a:moveTo>
                <a:cubicBezTo>
                  <a:pt x="133891" y="9467"/>
                  <a:pt x="138302" y="10369"/>
                  <a:pt x="141265" y="13299"/>
                </a:cubicBezTo>
                <a:lnTo>
                  <a:pt x="161873" y="33907"/>
                </a:lnTo>
                <a:cubicBezTo>
                  <a:pt x="163806" y="35840"/>
                  <a:pt x="164900" y="38448"/>
                  <a:pt x="164900" y="41185"/>
                </a:cubicBezTo>
                <a:cubicBezTo>
                  <a:pt x="164900" y="43922"/>
                  <a:pt x="163806" y="46530"/>
                  <a:pt x="161873" y="48462"/>
                </a:cubicBezTo>
                <a:lnTo>
                  <a:pt x="141265" y="69071"/>
                </a:lnTo>
                <a:cubicBezTo>
                  <a:pt x="138302" y="72033"/>
                  <a:pt x="133891" y="72903"/>
                  <a:pt x="130027" y="71293"/>
                </a:cubicBezTo>
                <a:cubicBezTo>
                  <a:pt x="126163" y="69683"/>
                  <a:pt x="123651" y="65979"/>
                  <a:pt x="123651" y="61826"/>
                </a:cubicBezTo>
                <a:lnTo>
                  <a:pt x="123651" y="51521"/>
                </a:lnTo>
                <a:lnTo>
                  <a:pt x="113347" y="51521"/>
                </a:lnTo>
                <a:cubicBezTo>
                  <a:pt x="110095" y="51521"/>
                  <a:pt x="107035" y="53035"/>
                  <a:pt x="105103" y="55643"/>
                </a:cubicBezTo>
                <a:lnTo>
                  <a:pt x="94670" y="69554"/>
                </a:lnTo>
                <a:lnTo>
                  <a:pt x="81790" y="52391"/>
                </a:lnTo>
                <a:lnTo>
                  <a:pt x="88617" y="43278"/>
                </a:lnTo>
                <a:cubicBezTo>
                  <a:pt x="94445" y="35485"/>
                  <a:pt x="103622" y="30913"/>
                  <a:pt x="113347" y="30913"/>
                </a:cubicBezTo>
                <a:lnTo>
                  <a:pt x="123651" y="30913"/>
                </a:lnTo>
                <a:lnTo>
                  <a:pt x="123651" y="20609"/>
                </a:lnTo>
                <a:cubicBezTo>
                  <a:pt x="123651" y="16455"/>
                  <a:pt x="126163" y="12687"/>
                  <a:pt x="130027" y="11077"/>
                </a:cubicBezTo>
                <a:close/>
                <a:moveTo>
                  <a:pt x="49589" y="95314"/>
                </a:moveTo>
                <a:lnTo>
                  <a:pt x="62470" y="112477"/>
                </a:lnTo>
                <a:lnTo>
                  <a:pt x="55643" y="121590"/>
                </a:lnTo>
                <a:cubicBezTo>
                  <a:pt x="49815" y="129383"/>
                  <a:pt x="40637" y="133955"/>
                  <a:pt x="30913" y="133955"/>
                </a:cubicBezTo>
                <a:lnTo>
                  <a:pt x="10304" y="133955"/>
                </a:lnTo>
                <a:cubicBezTo>
                  <a:pt x="4605" y="133955"/>
                  <a:pt x="0" y="129351"/>
                  <a:pt x="0" y="123651"/>
                </a:cubicBezTo>
                <a:cubicBezTo>
                  <a:pt x="0" y="117952"/>
                  <a:pt x="4605" y="113347"/>
                  <a:pt x="10304" y="113347"/>
                </a:cubicBezTo>
                <a:lnTo>
                  <a:pt x="30913" y="113347"/>
                </a:lnTo>
                <a:cubicBezTo>
                  <a:pt x="34165" y="113347"/>
                  <a:pt x="37224" y="111833"/>
                  <a:pt x="39156" y="109225"/>
                </a:cubicBezTo>
                <a:lnTo>
                  <a:pt x="49589" y="95314"/>
                </a:lnTo>
                <a:close/>
                <a:moveTo>
                  <a:pt x="141233" y="151537"/>
                </a:moveTo>
                <a:cubicBezTo>
                  <a:pt x="138270" y="154499"/>
                  <a:pt x="133859" y="155369"/>
                  <a:pt x="129995" y="153759"/>
                </a:cubicBezTo>
                <a:cubicBezTo>
                  <a:pt x="126131" y="152149"/>
                  <a:pt x="123651" y="148414"/>
                  <a:pt x="123651" y="144260"/>
                </a:cubicBezTo>
                <a:lnTo>
                  <a:pt x="123651" y="133955"/>
                </a:lnTo>
                <a:lnTo>
                  <a:pt x="113347" y="133955"/>
                </a:lnTo>
                <a:cubicBezTo>
                  <a:pt x="103622" y="133955"/>
                  <a:pt x="94445" y="129383"/>
                  <a:pt x="88617" y="121590"/>
                </a:cubicBezTo>
                <a:lnTo>
                  <a:pt x="39156" y="55643"/>
                </a:lnTo>
                <a:cubicBezTo>
                  <a:pt x="37224" y="53035"/>
                  <a:pt x="34165" y="51521"/>
                  <a:pt x="30913" y="51521"/>
                </a:cubicBezTo>
                <a:lnTo>
                  <a:pt x="10304" y="51521"/>
                </a:lnTo>
                <a:cubicBezTo>
                  <a:pt x="4605" y="51521"/>
                  <a:pt x="0" y="46917"/>
                  <a:pt x="0" y="41217"/>
                </a:cubicBezTo>
                <a:cubicBezTo>
                  <a:pt x="0" y="35517"/>
                  <a:pt x="4605" y="30913"/>
                  <a:pt x="10304" y="30913"/>
                </a:cubicBezTo>
                <a:lnTo>
                  <a:pt x="30913" y="30913"/>
                </a:lnTo>
                <a:cubicBezTo>
                  <a:pt x="40637" y="30913"/>
                  <a:pt x="49815" y="35485"/>
                  <a:pt x="55643" y="43278"/>
                </a:cubicBezTo>
                <a:lnTo>
                  <a:pt x="105103" y="109225"/>
                </a:lnTo>
                <a:cubicBezTo>
                  <a:pt x="107035" y="111833"/>
                  <a:pt x="110095" y="113347"/>
                  <a:pt x="113347" y="113347"/>
                </a:cubicBezTo>
                <a:lnTo>
                  <a:pt x="123651" y="113347"/>
                </a:lnTo>
                <a:lnTo>
                  <a:pt x="123651" y="103043"/>
                </a:lnTo>
                <a:cubicBezTo>
                  <a:pt x="123651" y="98889"/>
                  <a:pt x="126163" y="95121"/>
                  <a:pt x="130027" y="93511"/>
                </a:cubicBezTo>
                <a:cubicBezTo>
                  <a:pt x="133891" y="91901"/>
                  <a:pt x="138302" y="92803"/>
                  <a:pt x="141265" y="95733"/>
                </a:cubicBezTo>
                <a:lnTo>
                  <a:pt x="161873" y="116342"/>
                </a:lnTo>
                <a:cubicBezTo>
                  <a:pt x="163806" y="118274"/>
                  <a:pt x="164900" y="120882"/>
                  <a:pt x="164900" y="123619"/>
                </a:cubicBezTo>
                <a:cubicBezTo>
                  <a:pt x="164900" y="126356"/>
                  <a:pt x="163806" y="128964"/>
                  <a:pt x="161873" y="130896"/>
                </a:cubicBezTo>
                <a:lnTo>
                  <a:pt x="141265" y="151505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956235" y="5885793"/>
            <a:ext cx="1492057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Train/Val/Test Split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7578" y="6264990"/>
            <a:ext cx="5374702" cy="21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Stratified data division for training, validation, and testing phases.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5351" y="1252998"/>
            <a:ext cx="5671465" cy="1417866"/>
          </a:xfrm>
          <a:custGeom>
            <a:avLst/>
            <a:gdLst/>
            <a:ahLst/>
            <a:cxnLst/>
            <a:rect l="l" t="t" r="r" b="b"/>
            <a:pathLst>
              <a:path w="5671465" h="1417866">
                <a:moveTo>
                  <a:pt x="98925" y="0"/>
                </a:moveTo>
                <a:lnTo>
                  <a:pt x="5572540" y="0"/>
                </a:lnTo>
                <a:cubicBezTo>
                  <a:pt x="5627174" y="0"/>
                  <a:pt x="5671465" y="44290"/>
                  <a:pt x="5671465" y="98925"/>
                </a:cubicBezTo>
                <a:lnTo>
                  <a:pt x="5671465" y="1318942"/>
                </a:lnTo>
                <a:cubicBezTo>
                  <a:pt x="5671465" y="1373576"/>
                  <a:pt x="5627174" y="1417866"/>
                  <a:pt x="5572540" y="1417866"/>
                </a:cubicBezTo>
                <a:lnTo>
                  <a:pt x="98925" y="1417866"/>
                </a:lnTo>
                <a:cubicBezTo>
                  <a:pt x="44290" y="1417866"/>
                  <a:pt x="0" y="1373576"/>
                  <a:pt x="0" y="1318942"/>
                </a:cubicBezTo>
                <a:lnTo>
                  <a:pt x="0" y="98925"/>
                </a:lnTo>
                <a:cubicBezTo>
                  <a:pt x="0" y="44327"/>
                  <a:pt x="44327" y="0"/>
                  <a:pt x="989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7" name="Image 0" descr="https://kimi-img.moonshot.cn/pub/slides/okc/ho2ml3tf4k7vq/dataset_folders.jpg"/>
          <p:cNvPicPr>
            <a:picLocks noChangeAspect="1"/>
          </p:cNvPicPr>
          <p:nvPr/>
        </p:nvPicPr>
        <p:blipFill>
          <a:blip r:embed="rId3"/>
          <a:srcRect t="31734" b="31735"/>
          <a:stretch/>
        </p:blipFill>
        <p:spPr>
          <a:xfrm>
            <a:off x="6195351" y="1252998"/>
            <a:ext cx="5671465" cy="1055156"/>
          </a:xfrm>
          <a:prstGeom prst="roundRect">
            <a:avLst>
              <a:gd name="adj" fmla="val 6977"/>
            </a:avLst>
          </a:prstGeom>
        </p:spPr>
      </p:pic>
      <p:sp>
        <p:nvSpPr>
          <p:cNvPr id="38" name="Shape 35"/>
          <p:cNvSpPr/>
          <p:nvPr/>
        </p:nvSpPr>
        <p:spPr>
          <a:xfrm>
            <a:off x="6195351" y="2308154"/>
            <a:ext cx="5671465" cy="362710"/>
          </a:xfrm>
          <a:custGeom>
            <a:avLst/>
            <a:gdLst/>
            <a:ahLst/>
            <a:cxnLst/>
            <a:rect l="l" t="t" r="r" b="b"/>
            <a:pathLst>
              <a:path w="5671465" h="362710">
                <a:moveTo>
                  <a:pt x="0" y="0"/>
                </a:moveTo>
                <a:lnTo>
                  <a:pt x="5671465" y="0"/>
                </a:lnTo>
                <a:lnTo>
                  <a:pt x="5671465" y="362710"/>
                </a:lnTo>
                <a:lnTo>
                  <a:pt x="0" y="36271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6265420" y="2407075"/>
            <a:ext cx="5531327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9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Folder Structure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195351" y="2769785"/>
            <a:ext cx="5671465" cy="1417866"/>
          </a:xfrm>
          <a:custGeom>
            <a:avLst/>
            <a:gdLst/>
            <a:ahLst/>
            <a:cxnLst/>
            <a:rect l="l" t="t" r="r" b="b"/>
            <a:pathLst>
              <a:path w="5671465" h="1417866">
                <a:moveTo>
                  <a:pt x="98925" y="0"/>
                </a:moveTo>
                <a:lnTo>
                  <a:pt x="5572540" y="0"/>
                </a:lnTo>
                <a:cubicBezTo>
                  <a:pt x="5627174" y="0"/>
                  <a:pt x="5671465" y="44290"/>
                  <a:pt x="5671465" y="98925"/>
                </a:cubicBezTo>
                <a:lnTo>
                  <a:pt x="5671465" y="1318942"/>
                </a:lnTo>
                <a:cubicBezTo>
                  <a:pt x="5671465" y="1373576"/>
                  <a:pt x="5627174" y="1417866"/>
                  <a:pt x="5572540" y="1417866"/>
                </a:cubicBezTo>
                <a:lnTo>
                  <a:pt x="98925" y="1417866"/>
                </a:lnTo>
                <a:cubicBezTo>
                  <a:pt x="44290" y="1417866"/>
                  <a:pt x="0" y="1373576"/>
                  <a:pt x="0" y="1318942"/>
                </a:cubicBezTo>
                <a:lnTo>
                  <a:pt x="0" y="98925"/>
                </a:lnTo>
                <a:cubicBezTo>
                  <a:pt x="0" y="44327"/>
                  <a:pt x="44327" y="0"/>
                  <a:pt x="989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1" name="Image 1" descr="https://kimi-img.moonshot.cn/pub/slides/okc/ho2ml3tf4k7vq/real_folder.jpg"/>
          <p:cNvPicPr>
            <a:picLocks noChangeAspect="1"/>
          </p:cNvPicPr>
          <p:nvPr/>
        </p:nvPicPr>
        <p:blipFill>
          <a:blip r:embed="rId4"/>
          <a:srcRect t="32281" b="32281"/>
          <a:stretch/>
        </p:blipFill>
        <p:spPr>
          <a:xfrm>
            <a:off x="6195351" y="2769785"/>
            <a:ext cx="5671465" cy="1055156"/>
          </a:xfrm>
          <a:prstGeom prst="roundRect">
            <a:avLst>
              <a:gd name="adj" fmla="val 6977"/>
            </a:avLst>
          </a:prstGeom>
        </p:spPr>
      </p:pic>
      <p:sp>
        <p:nvSpPr>
          <p:cNvPr id="42" name="Shape 38"/>
          <p:cNvSpPr/>
          <p:nvPr/>
        </p:nvSpPr>
        <p:spPr>
          <a:xfrm>
            <a:off x="6195351" y="3824941"/>
            <a:ext cx="5671465" cy="362710"/>
          </a:xfrm>
          <a:custGeom>
            <a:avLst/>
            <a:gdLst/>
            <a:ahLst/>
            <a:cxnLst/>
            <a:rect l="l" t="t" r="r" b="b"/>
            <a:pathLst>
              <a:path w="5671465" h="362710">
                <a:moveTo>
                  <a:pt x="0" y="0"/>
                </a:moveTo>
                <a:lnTo>
                  <a:pt x="5671465" y="0"/>
                </a:lnTo>
                <a:lnTo>
                  <a:pt x="5671465" y="362710"/>
                </a:lnTo>
                <a:lnTo>
                  <a:pt x="0" y="36271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</p:sp>
      <p:sp>
        <p:nvSpPr>
          <p:cNvPr id="43" name="Text 39"/>
          <p:cNvSpPr/>
          <p:nvPr/>
        </p:nvSpPr>
        <p:spPr>
          <a:xfrm>
            <a:off x="6265420" y="3923862"/>
            <a:ext cx="5531327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9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Images Collection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6195351" y="4286572"/>
            <a:ext cx="5671465" cy="1417866"/>
          </a:xfrm>
          <a:custGeom>
            <a:avLst/>
            <a:gdLst/>
            <a:ahLst/>
            <a:cxnLst/>
            <a:rect l="l" t="t" r="r" b="b"/>
            <a:pathLst>
              <a:path w="5671465" h="1417866">
                <a:moveTo>
                  <a:pt x="98925" y="0"/>
                </a:moveTo>
                <a:lnTo>
                  <a:pt x="5572540" y="0"/>
                </a:lnTo>
                <a:cubicBezTo>
                  <a:pt x="5627174" y="0"/>
                  <a:pt x="5671465" y="44290"/>
                  <a:pt x="5671465" y="98925"/>
                </a:cubicBezTo>
                <a:lnTo>
                  <a:pt x="5671465" y="1318942"/>
                </a:lnTo>
                <a:cubicBezTo>
                  <a:pt x="5671465" y="1373576"/>
                  <a:pt x="5627174" y="1417866"/>
                  <a:pt x="5572540" y="1417866"/>
                </a:cubicBezTo>
                <a:lnTo>
                  <a:pt x="98925" y="1417866"/>
                </a:lnTo>
                <a:cubicBezTo>
                  <a:pt x="44290" y="1417866"/>
                  <a:pt x="0" y="1373576"/>
                  <a:pt x="0" y="1318942"/>
                </a:cubicBezTo>
                <a:lnTo>
                  <a:pt x="0" y="98925"/>
                </a:lnTo>
                <a:cubicBezTo>
                  <a:pt x="0" y="44327"/>
                  <a:pt x="44327" y="0"/>
                  <a:pt x="989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5" name="Image 2" descr="https://kimi-img.moonshot.cn/pub/slides/okc/ho2ml3tf4k7vq/fake_folder.jpg"/>
          <p:cNvPicPr>
            <a:picLocks noChangeAspect="1"/>
          </p:cNvPicPr>
          <p:nvPr/>
        </p:nvPicPr>
        <p:blipFill>
          <a:blip r:embed="rId5"/>
          <a:srcRect t="32281" b="32281"/>
          <a:stretch/>
        </p:blipFill>
        <p:spPr>
          <a:xfrm>
            <a:off x="6195351" y="4286572"/>
            <a:ext cx="5671465" cy="1055156"/>
          </a:xfrm>
          <a:prstGeom prst="roundRect">
            <a:avLst>
              <a:gd name="adj" fmla="val 6977"/>
            </a:avLst>
          </a:prstGeom>
        </p:spPr>
      </p:pic>
      <p:sp>
        <p:nvSpPr>
          <p:cNvPr id="46" name="Shape 41"/>
          <p:cNvSpPr/>
          <p:nvPr/>
        </p:nvSpPr>
        <p:spPr>
          <a:xfrm>
            <a:off x="6195351" y="5341728"/>
            <a:ext cx="5671465" cy="362710"/>
          </a:xfrm>
          <a:custGeom>
            <a:avLst/>
            <a:gdLst/>
            <a:ahLst/>
            <a:cxnLst/>
            <a:rect l="l" t="t" r="r" b="b"/>
            <a:pathLst>
              <a:path w="5671465" h="362710">
                <a:moveTo>
                  <a:pt x="0" y="0"/>
                </a:moveTo>
                <a:lnTo>
                  <a:pt x="5671465" y="0"/>
                </a:lnTo>
                <a:lnTo>
                  <a:pt x="5671465" y="362710"/>
                </a:lnTo>
                <a:lnTo>
                  <a:pt x="0" y="362710"/>
                </a:lnTo>
                <a:lnTo>
                  <a:pt x="0" y="0"/>
                </a:lnTo>
                <a:close/>
              </a:path>
            </a:pathLst>
          </a:custGeom>
          <a:solidFill>
            <a:srgbClr val="EF4444">
              <a:alpha val="5098"/>
            </a:srgbClr>
          </a:solidFill>
          <a:ln/>
        </p:spPr>
      </p:sp>
      <p:sp>
        <p:nvSpPr>
          <p:cNvPr id="47" name="Text 42"/>
          <p:cNvSpPr/>
          <p:nvPr/>
        </p:nvSpPr>
        <p:spPr>
          <a:xfrm>
            <a:off x="6265420" y="5440649"/>
            <a:ext cx="5531327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9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FAKE Images Collection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45720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Model Architecture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1447800"/>
            <a:ext cx="4457700" cy="762000"/>
          </a:xfrm>
          <a:custGeom>
            <a:avLst/>
            <a:gdLst/>
            <a:ahLst/>
            <a:cxnLst/>
            <a:rect l="l" t="t" r="r" b="b"/>
            <a:pathLst>
              <a:path w="4457700" h="762000">
                <a:moveTo>
                  <a:pt x="38100" y="0"/>
                </a:moveTo>
                <a:lnTo>
                  <a:pt x="4343400" y="0"/>
                </a:lnTo>
                <a:cubicBezTo>
                  <a:pt x="4406484" y="0"/>
                  <a:pt x="4457700" y="51216"/>
                  <a:pt x="4457700" y="114300"/>
                </a:cubicBezTo>
                <a:lnTo>
                  <a:pt x="4457700" y="647700"/>
                </a:lnTo>
                <a:cubicBezTo>
                  <a:pt x="4457700" y="710784"/>
                  <a:pt x="4406484" y="762000"/>
                  <a:pt x="4343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4478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1562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1638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1600200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Conv2D Layers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400" y="1905000"/>
            <a:ext cx="427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 from input images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286000"/>
            <a:ext cx="4457700" cy="762000"/>
          </a:xfrm>
          <a:custGeom>
            <a:avLst/>
            <a:gdLst/>
            <a:ahLst/>
            <a:cxnLst/>
            <a:rect l="l" t="t" r="r" b="b"/>
            <a:pathLst>
              <a:path w="4457700" h="762000">
                <a:moveTo>
                  <a:pt x="38100" y="0"/>
                </a:moveTo>
                <a:lnTo>
                  <a:pt x="4343400" y="0"/>
                </a:lnTo>
                <a:cubicBezTo>
                  <a:pt x="4406484" y="0"/>
                  <a:pt x="4457700" y="51216"/>
                  <a:pt x="4457700" y="114300"/>
                </a:cubicBezTo>
                <a:lnTo>
                  <a:pt x="4457700" y="647700"/>
                </a:lnTo>
                <a:cubicBezTo>
                  <a:pt x="4457700" y="710784"/>
                  <a:pt x="4406484" y="762000"/>
                  <a:pt x="4343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22860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33400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19125" y="247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243840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ReLU Activation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3400" y="2743200"/>
            <a:ext cx="427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Introduces non-linearity to the model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124200"/>
            <a:ext cx="4457700" cy="762000"/>
          </a:xfrm>
          <a:custGeom>
            <a:avLst/>
            <a:gdLst/>
            <a:ahLst/>
            <a:cxnLst/>
            <a:rect l="l" t="t" r="r" b="b"/>
            <a:pathLst>
              <a:path w="4457700" h="762000">
                <a:moveTo>
                  <a:pt x="38100" y="0"/>
                </a:moveTo>
                <a:lnTo>
                  <a:pt x="4343400" y="0"/>
                </a:lnTo>
                <a:cubicBezTo>
                  <a:pt x="4406484" y="0"/>
                  <a:pt x="4457700" y="51216"/>
                  <a:pt x="4457700" y="114300"/>
                </a:cubicBezTo>
                <a:lnTo>
                  <a:pt x="4457700" y="647700"/>
                </a:lnTo>
                <a:cubicBezTo>
                  <a:pt x="4457700" y="710784"/>
                  <a:pt x="4406484" y="762000"/>
                  <a:pt x="4343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31242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33400" y="323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3314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5731" y="66675"/>
                </a:moveTo>
                <a:lnTo>
                  <a:pt x="92869" y="66675"/>
                </a:lnTo>
                <a:cubicBezTo>
                  <a:pt x="88910" y="66675"/>
                  <a:pt x="85725" y="63490"/>
                  <a:pt x="85725" y="59531"/>
                </a:cubicBezTo>
                <a:lnTo>
                  <a:pt x="85725" y="16669"/>
                </a:lnTo>
                <a:cubicBezTo>
                  <a:pt x="85725" y="13781"/>
                  <a:pt x="87451" y="11162"/>
                  <a:pt x="90130" y="10061"/>
                </a:cubicBezTo>
                <a:cubicBezTo>
                  <a:pt x="92809" y="8959"/>
                  <a:pt x="95875" y="9585"/>
                  <a:pt x="97929" y="11609"/>
                </a:cubicBezTo>
                <a:lnTo>
                  <a:pt x="109835" y="23515"/>
                </a:lnTo>
                <a:lnTo>
                  <a:pt x="131683" y="1667"/>
                </a:lnTo>
                <a:cubicBezTo>
                  <a:pt x="132755" y="595"/>
                  <a:pt x="134213" y="0"/>
                  <a:pt x="135731" y="0"/>
                </a:cubicBezTo>
                <a:cubicBezTo>
                  <a:pt x="137249" y="0"/>
                  <a:pt x="138708" y="595"/>
                  <a:pt x="139809" y="1697"/>
                </a:cubicBezTo>
                <a:lnTo>
                  <a:pt x="150733" y="12621"/>
                </a:lnTo>
                <a:cubicBezTo>
                  <a:pt x="151805" y="13692"/>
                  <a:pt x="152400" y="15151"/>
                  <a:pt x="152400" y="16669"/>
                </a:cubicBezTo>
                <a:cubicBezTo>
                  <a:pt x="152400" y="18187"/>
                  <a:pt x="151805" y="19645"/>
                  <a:pt x="150703" y="20747"/>
                </a:cubicBezTo>
                <a:lnTo>
                  <a:pt x="128885" y="42565"/>
                </a:lnTo>
                <a:lnTo>
                  <a:pt x="140791" y="54471"/>
                </a:lnTo>
                <a:cubicBezTo>
                  <a:pt x="142845" y="56525"/>
                  <a:pt x="143441" y="59591"/>
                  <a:pt x="142339" y="62270"/>
                </a:cubicBezTo>
                <a:cubicBezTo>
                  <a:pt x="141238" y="64949"/>
                  <a:pt x="138619" y="66675"/>
                  <a:pt x="135731" y="66675"/>
                </a:cubicBezTo>
                <a:close/>
                <a:moveTo>
                  <a:pt x="135731" y="85725"/>
                </a:moveTo>
                <a:cubicBezTo>
                  <a:pt x="138619" y="85725"/>
                  <a:pt x="141238" y="87451"/>
                  <a:pt x="142339" y="90130"/>
                </a:cubicBezTo>
                <a:cubicBezTo>
                  <a:pt x="143441" y="92809"/>
                  <a:pt x="142845" y="95875"/>
                  <a:pt x="140791" y="97929"/>
                </a:cubicBezTo>
                <a:lnTo>
                  <a:pt x="128885" y="109835"/>
                </a:lnTo>
                <a:lnTo>
                  <a:pt x="150733" y="131683"/>
                </a:lnTo>
                <a:cubicBezTo>
                  <a:pt x="151805" y="132755"/>
                  <a:pt x="152430" y="134213"/>
                  <a:pt x="152430" y="135761"/>
                </a:cubicBezTo>
                <a:cubicBezTo>
                  <a:pt x="152430" y="137309"/>
                  <a:pt x="151834" y="138738"/>
                  <a:pt x="150733" y="139839"/>
                </a:cubicBezTo>
                <a:lnTo>
                  <a:pt x="139809" y="150763"/>
                </a:lnTo>
                <a:cubicBezTo>
                  <a:pt x="138708" y="151805"/>
                  <a:pt x="137249" y="152400"/>
                  <a:pt x="135731" y="152400"/>
                </a:cubicBezTo>
                <a:cubicBezTo>
                  <a:pt x="134213" y="152400"/>
                  <a:pt x="132755" y="151805"/>
                  <a:pt x="131653" y="150703"/>
                </a:cubicBezTo>
                <a:lnTo>
                  <a:pt x="109835" y="128885"/>
                </a:lnTo>
                <a:lnTo>
                  <a:pt x="97929" y="140791"/>
                </a:lnTo>
                <a:cubicBezTo>
                  <a:pt x="95875" y="142845"/>
                  <a:pt x="92809" y="143441"/>
                  <a:pt x="90130" y="142339"/>
                </a:cubicBezTo>
                <a:cubicBezTo>
                  <a:pt x="87451" y="141238"/>
                  <a:pt x="85725" y="138619"/>
                  <a:pt x="85725" y="135731"/>
                </a:cubicBezTo>
                <a:lnTo>
                  <a:pt x="85725" y="92869"/>
                </a:lnTo>
                <a:cubicBezTo>
                  <a:pt x="85725" y="88910"/>
                  <a:pt x="88910" y="85725"/>
                  <a:pt x="92869" y="85725"/>
                </a:cubicBezTo>
                <a:lnTo>
                  <a:pt x="135731" y="85725"/>
                </a:lnTo>
                <a:close/>
                <a:moveTo>
                  <a:pt x="59531" y="85725"/>
                </a:moveTo>
                <a:cubicBezTo>
                  <a:pt x="63490" y="85725"/>
                  <a:pt x="66675" y="88910"/>
                  <a:pt x="66675" y="92869"/>
                </a:cubicBezTo>
                <a:lnTo>
                  <a:pt x="66675" y="135731"/>
                </a:lnTo>
                <a:cubicBezTo>
                  <a:pt x="66675" y="138619"/>
                  <a:pt x="64949" y="141238"/>
                  <a:pt x="62270" y="142339"/>
                </a:cubicBezTo>
                <a:cubicBezTo>
                  <a:pt x="59591" y="143441"/>
                  <a:pt x="56525" y="142845"/>
                  <a:pt x="54471" y="140791"/>
                </a:cubicBezTo>
                <a:lnTo>
                  <a:pt x="42565" y="128885"/>
                </a:lnTo>
                <a:lnTo>
                  <a:pt x="20717" y="150733"/>
                </a:lnTo>
                <a:cubicBezTo>
                  <a:pt x="19645" y="151805"/>
                  <a:pt x="18187" y="152400"/>
                  <a:pt x="16669" y="152400"/>
                </a:cubicBezTo>
                <a:cubicBezTo>
                  <a:pt x="15151" y="152400"/>
                  <a:pt x="13692" y="151805"/>
                  <a:pt x="12591" y="150703"/>
                </a:cubicBezTo>
                <a:lnTo>
                  <a:pt x="1697" y="139809"/>
                </a:lnTo>
                <a:cubicBezTo>
                  <a:pt x="595" y="138708"/>
                  <a:pt x="0" y="137249"/>
                  <a:pt x="0" y="135731"/>
                </a:cubicBezTo>
                <a:cubicBezTo>
                  <a:pt x="0" y="134213"/>
                  <a:pt x="595" y="132755"/>
                  <a:pt x="1697" y="131653"/>
                </a:cubicBezTo>
                <a:lnTo>
                  <a:pt x="23515" y="109835"/>
                </a:lnTo>
                <a:lnTo>
                  <a:pt x="11609" y="97929"/>
                </a:lnTo>
                <a:cubicBezTo>
                  <a:pt x="9555" y="95875"/>
                  <a:pt x="8959" y="92809"/>
                  <a:pt x="10061" y="90130"/>
                </a:cubicBezTo>
                <a:cubicBezTo>
                  <a:pt x="11162" y="87451"/>
                  <a:pt x="13781" y="85725"/>
                  <a:pt x="16669" y="85725"/>
                </a:cubicBezTo>
                <a:lnTo>
                  <a:pt x="59531" y="85725"/>
                </a:lnTo>
                <a:close/>
                <a:moveTo>
                  <a:pt x="16669" y="66675"/>
                </a:moveTo>
                <a:cubicBezTo>
                  <a:pt x="13781" y="66675"/>
                  <a:pt x="11162" y="64949"/>
                  <a:pt x="10061" y="62270"/>
                </a:cubicBezTo>
                <a:cubicBezTo>
                  <a:pt x="8959" y="59591"/>
                  <a:pt x="9585" y="56525"/>
                  <a:pt x="11609" y="54471"/>
                </a:cubicBezTo>
                <a:lnTo>
                  <a:pt x="23515" y="42565"/>
                </a:lnTo>
                <a:lnTo>
                  <a:pt x="1697" y="20747"/>
                </a:lnTo>
                <a:cubicBezTo>
                  <a:pt x="595" y="19645"/>
                  <a:pt x="0" y="18187"/>
                  <a:pt x="0" y="16669"/>
                </a:cubicBezTo>
                <a:cubicBezTo>
                  <a:pt x="0" y="15151"/>
                  <a:pt x="595" y="13692"/>
                  <a:pt x="1697" y="12591"/>
                </a:cubicBezTo>
                <a:lnTo>
                  <a:pt x="12591" y="1697"/>
                </a:lnTo>
                <a:cubicBezTo>
                  <a:pt x="13692" y="595"/>
                  <a:pt x="15151" y="0"/>
                  <a:pt x="16669" y="0"/>
                </a:cubicBezTo>
                <a:cubicBezTo>
                  <a:pt x="18187" y="0"/>
                  <a:pt x="19645" y="595"/>
                  <a:pt x="20747" y="1697"/>
                </a:cubicBezTo>
                <a:lnTo>
                  <a:pt x="42565" y="23515"/>
                </a:lnTo>
                <a:lnTo>
                  <a:pt x="54471" y="11609"/>
                </a:lnTo>
                <a:cubicBezTo>
                  <a:pt x="56525" y="9555"/>
                  <a:pt x="59591" y="8959"/>
                  <a:pt x="62270" y="10061"/>
                </a:cubicBezTo>
                <a:cubicBezTo>
                  <a:pt x="64949" y="11162"/>
                  <a:pt x="66675" y="13781"/>
                  <a:pt x="66675" y="16669"/>
                </a:cubicBezTo>
                <a:lnTo>
                  <a:pt x="66675" y="59531"/>
                </a:lnTo>
                <a:cubicBezTo>
                  <a:pt x="66675" y="63490"/>
                  <a:pt x="63490" y="66675"/>
                  <a:pt x="59531" y="66675"/>
                </a:cubicBezTo>
                <a:lnTo>
                  <a:pt x="16669" y="6667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327660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MaxPooling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3400" y="3581400"/>
            <a:ext cx="427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 reduction and downsampling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3962400"/>
            <a:ext cx="4457700" cy="762000"/>
          </a:xfrm>
          <a:custGeom>
            <a:avLst/>
            <a:gdLst/>
            <a:ahLst/>
            <a:cxnLst/>
            <a:rect l="l" t="t" r="r" b="b"/>
            <a:pathLst>
              <a:path w="4457700" h="762000">
                <a:moveTo>
                  <a:pt x="38100" y="0"/>
                </a:moveTo>
                <a:lnTo>
                  <a:pt x="4343400" y="0"/>
                </a:lnTo>
                <a:cubicBezTo>
                  <a:pt x="4406484" y="0"/>
                  <a:pt x="4457700" y="51216"/>
                  <a:pt x="4457700" y="114300"/>
                </a:cubicBezTo>
                <a:lnTo>
                  <a:pt x="4457700" y="647700"/>
                </a:lnTo>
                <a:cubicBezTo>
                  <a:pt x="4457700" y="710784"/>
                  <a:pt x="4406484" y="762000"/>
                  <a:pt x="4343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0050" y="39624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33400" y="4076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19125" y="4152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9525" y="9525"/>
                </a:moveTo>
                <a:cubicBezTo>
                  <a:pt x="4256" y="9525"/>
                  <a:pt x="0" y="13781"/>
                  <a:pt x="0" y="19050"/>
                </a:cubicBezTo>
                <a:lnTo>
                  <a:pt x="0" y="47625"/>
                </a:lnTo>
                <a:cubicBezTo>
                  <a:pt x="0" y="52894"/>
                  <a:pt x="4256" y="57150"/>
                  <a:pt x="9525" y="57150"/>
                </a:cubicBezTo>
                <a:cubicBezTo>
                  <a:pt x="14794" y="57150"/>
                  <a:pt x="19050" y="52894"/>
                  <a:pt x="19050" y="47625"/>
                </a:cubicBezTo>
                <a:lnTo>
                  <a:pt x="19050" y="28575"/>
                </a:lnTo>
                <a:lnTo>
                  <a:pt x="38100" y="28575"/>
                </a:lnTo>
                <a:cubicBezTo>
                  <a:pt x="43369" y="28575"/>
                  <a:pt x="47625" y="24319"/>
                  <a:pt x="47625" y="19050"/>
                </a:cubicBezTo>
                <a:cubicBezTo>
                  <a:pt x="47625" y="13781"/>
                  <a:pt x="43369" y="9525"/>
                  <a:pt x="38100" y="9525"/>
                </a:cubicBezTo>
                <a:lnTo>
                  <a:pt x="9525" y="9525"/>
                </a:lnTo>
                <a:close/>
                <a:moveTo>
                  <a:pt x="19050" y="104775"/>
                </a:moveTo>
                <a:cubicBezTo>
                  <a:pt x="19050" y="99506"/>
                  <a:pt x="14794" y="95250"/>
                  <a:pt x="9525" y="95250"/>
                </a:cubicBezTo>
                <a:cubicBezTo>
                  <a:pt x="4256" y="95250"/>
                  <a:pt x="0" y="99506"/>
                  <a:pt x="0" y="104775"/>
                </a:cubicBez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lnTo>
                  <a:pt x="38100" y="142875"/>
                </a:lnTo>
                <a:cubicBezTo>
                  <a:pt x="43369" y="142875"/>
                  <a:pt x="47625" y="138619"/>
                  <a:pt x="47625" y="133350"/>
                </a:cubicBezTo>
                <a:cubicBezTo>
                  <a:pt x="47625" y="128081"/>
                  <a:pt x="43369" y="123825"/>
                  <a:pt x="38100" y="123825"/>
                </a:cubicBezTo>
                <a:lnTo>
                  <a:pt x="19050" y="123825"/>
                </a:lnTo>
                <a:lnTo>
                  <a:pt x="19050" y="104775"/>
                </a:lnTo>
                <a:close/>
                <a:moveTo>
                  <a:pt x="95250" y="9525"/>
                </a:moveTo>
                <a:cubicBezTo>
                  <a:pt x="89981" y="9525"/>
                  <a:pt x="85725" y="13781"/>
                  <a:pt x="85725" y="19050"/>
                </a:cubicBezTo>
                <a:cubicBezTo>
                  <a:pt x="85725" y="24319"/>
                  <a:pt x="89981" y="28575"/>
                  <a:pt x="95250" y="28575"/>
                </a:cubicBezTo>
                <a:lnTo>
                  <a:pt x="114300" y="28575"/>
                </a:lnTo>
                <a:lnTo>
                  <a:pt x="114300" y="47625"/>
                </a:lnTo>
                <a:cubicBezTo>
                  <a:pt x="114300" y="52894"/>
                  <a:pt x="118556" y="57150"/>
                  <a:pt x="123825" y="57150"/>
                </a:cubicBezTo>
                <a:cubicBezTo>
                  <a:pt x="129094" y="57150"/>
                  <a:pt x="133350" y="52894"/>
                  <a:pt x="133350" y="47625"/>
                </a:cubicBezTo>
                <a:lnTo>
                  <a:pt x="133350" y="19050"/>
                </a:lnTo>
                <a:cubicBezTo>
                  <a:pt x="133350" y="13781"/>
                  <a:pt x="129094" y="9525"/>
                  <a:pt x="123825" y="9525"/>
                </a:cubicBezTo>
                <a:lnTo>
                  <a:pt x="95250" y="9525"/>
                </a:lnTo>
                <a:close/>
                <a:moveTo>
                  <a:pt x="133350" y="104775"/>
                </a:moveTo>
                <a:cubicBezTo>
                  <a:pt x="133350" y="99506"/>
                  <a:pt x="129094" y="95250"/>
                  <a:pt x="123825" y="95250"/>
                </a:cubicBezTo>
                <a:cubicBezTo>
                  <a:pt x="118556" y="95250"/>
                  <a:pt x="114300" y="99506"/>
                  <a:pt x="114300" y="104775"/>
                </a:cubicBezTo>
                <a:lnTo>
                  <a:pt x="114300" y="123825"/>
                </a:lnTo>
                <a:lnTo>
                  <a:pt x="95250" y="123825"/>
                </a:lnTo>
                <a:cubicBezTo>
                  <a:pt x="89981" y="123825"/>
                  <a:pt x="85725" y="128081"/>
                  <a:pt x="85725" y="133350"/>
                </a:cubicBezTo>
                <a:cubicBezTo>
                  <a:pt x="85725" y="138619"/>
                  <a:pt x="89981" y="142875"/>
                  <a:pt x="95250" y="142875"/>
                </a:cubicBezTo>
                <a:lnTo>
                  <a:pt x="123825" y="142875"/>
                </a:lnTo>
                <a:cubicBezTo>
                  <a:pt x="129094" y="142875"/>
                  <a:pt x="133350" y="138619"/>
                  <a:pt x="133350" y="133350"/>
                </a:cubicBezTo>
                <a:lnTo>
                  <a:pt x="133350" y="10477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41148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Flatten Layer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3400" y="4419600"/>
            <a:ext cx="427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 2D features to 1D vector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4800600"/>
            <a:ext cx="4457700" cy="762000"/>
          </a:xfrm>
          <a:custGeom>
            <a:avLst/>
            <a:gdLst/>
            <a:ahLst/>
            <a:cxnLst/>
            <a:rect l="l" t="t" r="r" b="b"/>
            <a:pathLst>
              <a:path w="4457700" h="762000">
                <a:moveTo>
                  <a:pt x="38100" y="0"/>
                </a:moveTo>
                <a:lnTo>
                  <a:pt x="4343400" y="0"/>
                </a:lnTo>
                <a:cubicBezTo>
                  <a:pt x="4406484" y="0"/>
                  <a:pt x="4457700" y="51216"/>
                  <a:pt x="4457700" y="114300"/>
                </a:cubicBezTo>
                <a:lnTo>
                  <a:pt x="4457700" y="647700"/>
                </a:lnTo>
                <a:cubicBezTo>
                  <a:pt x="4457700" y="710784"/>
                  <a:pt x="4406484" y="762000"/>
                  <a:pt x="4343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0050" y="48006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2" name="Shape 30"/>
          <p:cNvSpPr/>
          <p:nvPr/>
        </p:nvSpPr>
        <p:spPr>
          <a:xfrm>
            <a:off x="533400" y="4914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C4899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" y="4991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495300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Layer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3400" y="5257800"/>
            <a:ext cx="427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connected classification layer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0050" y="5638800"/>
            <a:ext cx="4457700" cy="762000"/>
          </a:xfrm>
          <a:custGeom>
            <a:avLst/>
            <a:gdLst/>
            <a:ahLst/>
            <a:cxnLst/>
            <a:rect l="l" t="t" r="r" b="b"/>
            <a:pathLst>
              <a:path w="4457700" h="762000">
                <a:moveTo>
                  <a:pt x="38100" y="0"/>
                </a:moveTo>
                <a:lnTo>
                  <a:pt x="4343400" y="0"/>
                </a:lnTo>
                <a:cubicBezTo>
                  <a:pt x="4406484" y="0"/>
                  <a:pt x="4457700" y="51216"/>
                  <a:pt x="4457700" y="114300"/>
                </a:cubicBezTo>
                <a:lnTo>
                  <a:pt x="4457700" y="647700"/>
                </a:lnTo>
                <a:cubicBezTo>
                  <a:pt x="4457700" y="710784"/>
                  <a:pt x="4406484" y="762000"/>
                  <a:pt x="4343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00050" y="56388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533400" y="5753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9125" y="5829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38100"/>
                </a:moveTo>
                <a:cubicBezTo>
                  <a:pt x="57150" y="22329"/>
                  <a:pt x="44346" y="9525"/>
                  <a:pt x="28575" y="9525"/>
                </a:cubicBezTo>
                <a:cubicBezTo>
                  <a:pt x="12804" y="9525"/>
                  <a:pt x="0" y="22329"/>
                  <a:pt x="0" y="38100"/>
                </a:cubicBezTo>
                <a:cubicBezTo>
                  <a:pt x="0" y="53871"/>
                  <a:pt x="12804" y="66675"/>
                  <a:pt x="28575" y="66675"/>
                </a:cubicBezTo>
                <a:cubicBezTo>
                  <a:pt x="44346" y="66675"/>
                  <a:pt x="57150" y="53871"/>
                  <a:pt x="57150" y="38100"/>
                </a:cubicBezTo>
                <a:close/>
                <a:moveTo>
                  <a:pt x="133350" y="114300"/>
                </a:moveTo>
                <a:cubicBezTo>
                  <a:pt x="133350" y="98529"/>
                  <a:pt x="120546" y="85725"/>
                  <a:pt x="104775" y="85725"/>
                </a:cubicBezTo>
                <a:cubicBezTo>
                  <a:pt x="89004" y="85725"/>
                  <a:pt x="76200" y="98529"/>
                  <a:pt x="76200" y="114300"/>
                </a:cubicBezTo>
                <a:cubicBezTo>
                  <a:pt x="76200" y="130071"/>
                  <a:pt x="89004" y="142875"/>
                  <a:pt x="104775" y="142875"/>
                </a:cubicBezTo>
                <a:cubicBezTo>
                  <a:pt x="120546" y="142875"/>
                  <a:pt x="133350" y="130071"/>
                  <a:pt x="133350" y="114300"/>
                </a:cubicBezTo>
                <a:close/>
                <a:moveTo>
                  <a:pt x="130552" y="25777"/>
                </a:moveTo>
                <a:cubicBezTo>
                  <a:pt x="134273" y="22056"/>
                  <a:pt x="134273" y="16014"/>
                  <a:pt x="130552" y="12293"/>
                </a:cubicBezTo>
                <a:cubicBezTo>
                  <a:pt x="126831" y="8573"/>
                  <a:pt x="120789" y="8573"/>
                  <a:pt x="117068" y="12293"/>
                </a:cubicBezTo>
                <a:lnTo>
                  <a:pt x="2768" y="126593"/>
                </a:lnTo>
                <a:cubicBezTo>
                  <a:pt x="-952" y="130314"/>
                  <a:pt x="-952" y="136356"/>
                  <a:pt x="2768" y="140077"/>
                </a:cubicBezTo>
                <a:cubicBezTo>
                  <a:pt x="6489" y="143798"/>
                  <a:pt x="12531" y="143798"/>
                  <a:pt x="16252" y="140077"/>
                </a:cubicBezTo>
                <a:lnTo>
                  <a:pt x="130552" y="25777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0" name="Text 38"/>
          <p:cNvSpPr/>
          <p:nvPr/>
        </p:nvSpPr>
        <p:spPr>
          <a:xfrm>
            <a:off x="952500" y="579120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Sigmoid Output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3400" y="6096000"/>
            <a:ext cx="427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score [0,1] output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94921" y="15621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model.summary()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45720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Training Process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14478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38100" y="0"/>
                </a:moveTo>
                <a:lnTo>
                  <a:pt x="5486399" y="0"/>
                </a:lnTo>
                <a:cubicBezTo>
                  <a:pt x="5549483" y="0"/>
                  <a:pt x="5600700" y="51217"/>
                  <a:pt x="5600700" y="114301"/>
                </a:cubicBezTo>
                <a:lnTo>
                  <a:pt x="5600700" y="1142999"/>
                </a:lnTo>
                <a:cubicBezTo>
                  <a:pt x="5600700" y="1206083"/>
                  <a:pt x="5549483" y="1257300"/>
                  <a:pt x="5486399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4478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600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675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165735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Loss: Binary Crossentropy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057400"/>
            <a:ext cx="5353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Appropriate loss function for binary classification tasks measuring prediction error.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8194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38100" y="0"/>
                </a:moveTo>
                <a:lnTo>
                  <a:pt x="5486399" y="0"/>
                </a:lnTo>
                <a:cubicBezTo>
                  <a:pt x="5549483" y="0"/>
                  <a:pt x="5600700" y="51217"/>
                  <a:pt x="5600700" y="114301"/>
                </a:cubicBezTo>
                <a:lnTo>
                  <a:pt x="5600700" y="1142999"/>
                </a:lnTo>
                <a:cubicBezTo>
                  <a:pt x="5600700" y="1206083"/>
                  <a:pt x="5549483" y="1257300"/>
                  <a:pt x="5486399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28194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" y="2971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6750" y="3067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302895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Optimizer: Adam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3429000"/>
            <a:ext cx="5353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learning rate optimizer for efficient gradient descent and faster convergence.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191000"/>
            <a:ext cx="5600700" cy="1009650"/>
          </a:xfrm>
          <a:custGeom>
            <a:avLst/>
            <a:gdLst/>
            <a:ahLst/>
            <a:cxnLst/>
            <a:rect l="l" t="t" r="r" b="b"/>
            <a:pathLst>
              <a:path w="5600700" h="1009650">
                <a:moveTo>
                  <a:pt x="38100" y="0"/>
                </a:moveTo>
                <a:lnTo>
                  <a:pt x="5486398" y="0"/>
                </a:lnTo>
                <a:cubicBezTo>
                  <a:pt x="5549525" y="0"/>
                  <a:pt x="5600700" y="51175"/>
                  <a:pt x="5600700" y="114302"/>
                </a:cubicBezTo>
                <a:lnTo>
                  <a:pt x="5600700" y="895348"/>
                </a:lnTo>
                <a:cubicBezTo>
                  <a:pt x="5600700" y="958475"/>
                  <a:pt x="5549525" y="1009650"/>
                  <a:pt x="5486398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41910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4343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6750" y="4438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4400550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Epoch-based Training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800600"/>
            <a:ext cx="5353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 training over multiple epochs to minimize loss and improve accuracy.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5314950"/>
            <a:ext cx="5600700" cy="1009650"/>
          </a:xfrm>
          <a:custGeom>
            <a:avLst/>
            <a:gdLst/>
            <a:ahLst/>
            <a:cxnLst/>
            <a:rect l="l" t="t" r="r" b="b"/>
            <a:pathLst>
              <a:path w="5600700" h="1009650">
                <a:moveTo>
                  <a:pt x="38100" y="0"/>
                </a:moveTo>
                <a:lnTo>
                  <a:pt x="5486398" y="0"/>
                </a:lnTo>
                <a:cubicBezTo>
                  <a:pt x="5549525" y="0"/>
                  <a:pt x="5600700" y="51175"/>
                  <a:pt x="5600700" y="114302"/>
                </a:cubicBezTo>
                <a:lnTo>
                  <a:pt x="5600700" y="895348"/>
                </a:lnTo>
                <a:cubicBezTo>
                  <a:pt x="5600700" y="958475"/>
                  <a:pt x="5549525" y="1009650"/>
                  <a:pt x="5486398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0050" y="531495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" y="5467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4844" y="55626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552450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Monitoring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5924550"/>
            <a:ext cx="5353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validation metrics to prevent overfitting and ensure generalization.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1250" y="1447800"/>
            <a:ext cx="5619750" cy="2286000"/>
          </a:xfrm>
          <a:custGeom>
            <a:avLst/>
            <a:gdLst/>
            <a:ahLst/>
            <a:cxnLst/>
            <a:rect l="l" t="t" r="r" b="b"/>
            <a:pathLst>
              <a:path w="5619750" h="2286000">
                <a:moveTo>
                  <a:pt x="1143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2171700"/>
                </a:lnTo>
                <a:cubicBezTo>
                  <a:pt x="5619750" y="2234784"/>
                  <a:pt x="5568534" y="2286000"/>
                  <a:pt x="5505450" y="2286000"/>
                </a:cubicBezTo>
                <a:lnTo>
                  <a:pt x="114300" y="2286000"/>
                </a:lnTo>
                <a:cubicBezTo>
                  <a:pt x="51216" y="2286000"/>
                  <a:pt x="0" y="2234784"/>
                  <a:pt x="0" y="2171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1250" y="736600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0" y="0"/>
                </a:moveTo>
                <a:lnTo>
                  <a:pt x="5619750" y="0"/>
                </a:lnTo>
                <a:lnTo>
                  <a:pt x="56197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2" name="Shape 30"/>
          <p:cNvSpPr/>
          <p:nvPr/>
        </p:nvSpPr>
        <p:spPr>
          <a:xfrm>
            <a:off x="6324600" y="88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3" name="Text 31"/>
          <p:cNvSpPr/>
          <p:nvPr/>
        </p:nvSpPr>
        <p:spPr>
          <a:xfrm>
            <a:off x="6572250" y="83820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Loss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191250" y="3848100"/>
            <a:ext cx="5619750" cy="2286000"/>
          </a:xfrm>
          <a:custGeom>
            <a:avLst/>
            <a:gdLst/>
            <a:ahLst/>
            <a:cxnLst/>
            <a:rect l="l" t="t" r="r" b="b"/>
            <a:pathLst>
              <a:path w="5619750" h="2286000">
                <a:moveTo>
                  <a:pt x="1143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2171700"/>
                </a:lnTo>
                <a:cubicBezTo>
                  <a:pt x="5619750" y="2234784"/>
                  <a:pt x="5568534" y="2286000"/>
                  <a:pt x="5505450" y="2286000"/>
                </a:cubicBezTo>
                <a:lnTo>
                  <a:pt x="114300" y="2286000"/>
                </a:lnTo>
                <a:cubicBezTo>
                  <a:pt x="51216" y="2286000"/>
                  <a:pt x="0" y="2234784"/>
                  <a:pt x="0" y="2171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191250" y="3848100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0" y="0"/>
                </a:moveTo>
                <a:lnTo>
                  <a:pt x="5619750" y="0"/>
                </a:lnTo>
                <a:lnTo>
                  <a:pt x="56197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7" name="Shape 34"/>
          <p:cNvSpPr/>
          <p:nvPr/>
        </p:nvSpPr>
        <p:spPr>
          <a:xfrm>
            <a:off x="6324600" y="400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8" name="Text 35"/>
          <p:cNvSpPr/>
          <p:nvPr/>
        </p:nvSpPr>
        <p:spPr>
          <a:xfrm>
            <a:off x="6572250" y="39624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Accuracy</a:t>
            </a:r>
            <a:endParaRPr 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0" y="1184866"/>
            <a:ext cx="5606845" cy="2599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4324350"/>
            <a:ext cx="5600700" cy="2510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5990" y="437708"/>
            <a:ext cx="65656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4757" y="802465"/>
            <a:ext cx="1168134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Results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4757" y="1386076"/>
            <a:ext cx="5617257" cy="1705239"/>
          </a:xfrm>
          <a:custGeom>
            <a:avLst/>
            <a:gdLst/>
            <a:ahLst/>
            <a:cxnLst/>
            <a:rect l="l" t="t" r="r" b="b"/>
            <a:pathLst>
              <a:path w="5617257" h="1705239">
                <a:moveTo>
                  <a:pt x="109425" y="0"/>
                </a:moveTo>
                <a:lnTo>
                  <a:pt x="5507831" y="0"/>
                </a:lnTo>
                <a:cubicBezTo>
                  <a:pt x="5568265" y="0"/>
                  <a:pt x="5617257" y="48991"/>
                  <a:pt x="5617257" y="109425"/>
                </a:cubicBezTo>
                <a:lnTo>
                  <a:pt x="5617257" y="1595813"/>
                </a:lnTo>
                <a:cubicBezTo>
                  <a:pt x="5617257" y="1656247"/>
                  <a:pt x="5568265" y="1705239"/>
                  <a:pt x="5507831" y="1705239"/>
                </a:cubicBezTo>
                <a:lnTo>
                  <a:pt x="109425" y="1705239"/>
                </a:lnTo>
                <a:cubicBezTo>
                  <a:pt x="48991" y="1705239"/>
                  <a:pt x="0" y="1656247"/>
                  <a:pt x="0" y="1595813"/>
                </a:cubicBezTo>
                <a:lnTo>
                  <a:pt x="0" y="109425"/>
                </a:lnTo>
                <a:cubicBezTo>
                  <a:pt x="0" y="48991"/>
                  <a:pt x="48991" y="0"/>
                  <a:pt x="109425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  <a:effectLst>
            <a:outerShdw blurRad="227973" dist="182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3611" y="1604930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109427" y="0"/>
                </a:moveTo>
                <a:lnTo>
                  <a:pt x="474184" y="0"/>
                </a:lnTo>
                <a:cubicBezTo>
                  <a:pt x="534578" y="0"/>
                  <a:pt x="583611" y="49033"/>
                  <a:pt x="583611" y="109427"/>
                </a:cubicBezTo>
                <a:lnTo>
                  <a:pt x="583611" y="474184"/>
                </a:lnTo>
                <a:cubicBezTo>
                  <a:pt x="583611" y="534619"/>
                  <a:pt x="534619" y="583611"/>
                  <a:pt x="474184" y="583611"/>
                </a:cubicBezTo>
                <a:lnTo>
                  <a:pt x="109427" y="583611"/>
                </a:lnTo>
                <a:cubicBezTo>
                  <a:pt x="49033" y="583611"/>
                  <a:pt x="0" y="534578"/>
                  <a:pt x="0" y="474184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8010" y="1759952"/>
            <a:ext cx="239372" cy="273568"/>
          </a:xfrm>
          <a:custGeom>
            <a:avLst/>
            <a:gdLst/>
            <a:ahLst/>
            <a:cxnLst/>
            <a:rect l="l" t="t" r="r" b="b"/>
            <a:pathLst>
              <a:path w="239372" h="273568">
                <a:moveTo>
                  <a:pt x="102588" y="68392"/>
                </a:moveTo>
                <a:cubicBezTo>
                  <a:pt x="102588" y="40082"/>
                  <a:pt x="79604" y="17098"/>
                  <a:pt x="51294" y="17098"/>
                </a:cubicBezTo>
                <a:cubicBezTo>
                  <a:pt x="22984" y="17098"/>
                  <a:pt x="0" y="40082"/>
                  <a:pt x="0" y="68392"/>
                </a:cubicBezTo>
                <a:cubicBezTo>
                  <a:pt x="0" y="96702"/>
                  <a:pt x="22984" y="119686"/>
                  <a:pt x="51294" y="119686"/>
                </a:cubicBezTo>
                <a:cubicBezTo>
                  <a:pt x="79604" y="119686"/>
                  <a:pt x="102588" y="96702"/>
                  <a:pt x="102588" y="68392"/>
                </a:cubicBezTo>
                <a:close/>
                <a:moveTo>
                  <a:pt x="239372" y="205176"/>
                </a:moveTo>
                <a:cubicBezTo>
                  <a:pt x="239372" y="176866"/>
                  <a:pt x="216388" y="153882"/>
                  <a:pt x="188078" y="153882"/>
                </a:cubicBezTo>
                <a:cubicBezTo>
                  <a:pt x="159768" y="153882"/>
                  <a:pt x="136784" y="176866"/>
                  <a:pt x="136784" y="205176"/>
                </a:cubicBezTo>
                <a:cubicBezTo>
                  <a:pt x="136784" y="233486"/>
                  <a:pt x="159768" y="256470"/>
                  <a:pt x="188078" y="256470"/>
                </a:cubicBezTo>
                <a:cubicBezTo>
                  <a:pt x="216388" y="256470"/>
                  <a:pt x="239372" y="233486"/>
                  <a:pt x="239372" y="205176"/>
                </a:cubicBezTo>
                <a:close/>
                <a:moveTo>
                  <a:pt x="234349" y="46271"/>
                </a:moveTo>
                <a:cubicBezTo>
                  <a:pt x="241028" y="39593"/>
                  <a:pt x="241028" y="28746"/>
                  <a:pt x="234349" y="22067"/>
                </a:cubicBezTo>
                <a:cubicBezTo>
                  <a:pt x="227670" y="15388"/>
                  <a:pt x="216824" y="15388"/>
                  <a:pt x="210145" y="22067"/>
                </a:cubicBezTo>
                <a:lnTo>
                  <a:pt x="4969" y="227243"/>
                </a:lnTo>
                <a:cubicBezTo>
                  <a:pt x="-1710" y="233922"/>
                  <a:pt x="-1710" y="244768"/>
                  <a:pt x="4969" y="251447"/>
                </a:cubicBezTo>
                <a:cubicBezTo>
                  <a:pt x="11648" y="258126"/>
                  <a:pt x="22495" y="258126"/>
                  <a:pt x="29173" y="251447"/>
                </a:cubicBezTo>
                <a:lnTo>
                  <a:pt x="234349" y="462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13125" y="1750833"/>
            <a:ext cx="1942331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Probability Score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3611" y="2334444"/>
            <a:ext cx="5261619" cy="53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predicts probability score indicating likelihood of image being AI-generated or real.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4757" y="3269134"/>
            <a:ext cx="5617257" cy="1705239"/>
          </a:xfrm>
          <a:custGeom>
            <a:avLst/>
            <a:gdLst/>
            <a:ahLst/>
            <a:cxnLst/>
            <a:rect l="l" t="t" r="r" b="b"/>
            <a:pathLst>
              <a:path w="5617257" h="1705239">
                <a:moveTo>
                  <a:pt x="109425" y="0"/>
                </a:moveTo>
                <a:lnTo>
                  <a:pt x="5507831" y="0"/>
                </a:lnTo>
                <a:cubicBezTo>
                  <a:pt x="5568265" y="0"/>
                  <a:pt x="5617257" y="48991"/>
                  <a:pt x="5617257" y="109425"/>
                </a:cubicBezTo>
                <a:lnTo>
                  <a:pt x="5617257" y="1595813"/>
                </a:lnTo>
                <a:cubicBezTo>
                  <a:pt x="5617257" y="1656247"/>
                  <a:pt x="5568265" y="1705239"/>
                  <a:pt x="5507831" y="1705239"/>
                </a:cubicBezTo>
                <a:lnTo>
                  <a:pt x="109425" y="1705239"/>
                </a:lnTo>
                <a:cubicBezTo>
                  <a:pt x="48991" y="1705239"/>
                  <a:pt x="0" y="1656247"/>
                  <a:pt x="0" y="1595813"/>
                </a:cubicBezTo>
                <a:lnTo>
                  <a:pt x="0" y="109425"/>
                </a:lnTo>
                <a:cubicBezTo>
                  <a:pt x="0" y="48991"/>
                  <a:pt x="48991" y="0"/>
                  <a:pt x="10942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E3A5F"/>
              </a:gs>
            </a:gsLst>
            <a:lin ang="2700000" scaled="1"/>
          </a:gradFill>
          <a:ln/>
          <a:effectLst>
            <a:outerShdw blurRad="227973" dist="182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3611" y="3487988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109427" y="0"/>
                </a:moveTo>
                <a:lnTo>
                  <a:pt x="474184" y="0"/>
                </a:lnTo>
                <a:cubicBezTo>
                  <a:pt x="534578" y="0"/>
                  <a:pt x="583611" y="49033"/>
                  <a:pt x="583611" y="109427"/>
                </a:cubicBezTo>
                <a:lnTo>
                  <a:pt x="583611" y="474184"/>
                </a:lnTo>
                <a:cubicBezTo>
                  <a:pt x="583611" y="534619"/>
                  <a:pt x="534619" y="583611"/>
                  <a:pt x="474184" y="583611"/>
                </a:cubicBezTo>
                <a:lnTo>
                  <a:pt x="109427" y="583611"/>
                </a:lnTo>
                <a:cubicBezTo>
                  <a:pt x="49033" y="583611"/>
                  <a:pt x="0" y="534578"/>
                  <a:pt x="0" y="474184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0912" y="3643010"/>
            <a:ext cx="273568" cy="273568"/>
          </a:xfrm>
          <a:custGeom>
            <a:avLst/>
            <a:gdLst/>
            <a:ahLst/>
            <a:cxnLst/>
            <a:rect l="l" t="t" r="r" b="b"/>
            <a:pathLst>
              <a:path w="273568" h="273568">
                <a:moveTo>
                  <a:pt x="183055" y="5023"/>
                </a:moveTo>
                <a:cubicBezTo>
                  <a:pt x="176376" y="-1656"/>
                  <a:pt x="165530" y="-1656"/>
                  <a:pt x="158851" y="5023"/>
                </a:cubicBezTo>
                <a:cubicBezTo>
                  <a:pt x="152172" y="11701"/>
                  <a:pt x="152172" y="22548"/>
                  <a:pt x="158851" y="29227"/>
                </a:cubicBezTo>
                <a:lnTo>
                  <a:pt x="163873" y="34196"/>
                </a:lnTo>
                <a:lnTo>
                  <a:pt x="15014" y="183055"/>
                </a:lnTo>
                <a:cubicBezTo>
                  <a:pt x="5397" y="192673"/>
                  <a:pt x="0" y="205710"/>
                  <a:pt x="0" y="219335"/>
                </a:cubicBezTo>
                <a:lnTo>
                  <a:pt x="0" y="222274"/>
                </a:lnTo>
                <a:cubicBezTo>
                  <a:pt x="0" y="250592"/>
                  <a:pt x="22975" y="273568"/>
                  <a:pt x="51294" y="273568"/>
                </a:cubicBezTo>
                <a:lnTo>
                  <a:pt x="54233" y="273568"/>
                </a:lnTo>
                <a:cubicBezTo>
                  <a:pt x="67858" y="273568"/>
                  <a:pt x="80895" y="268171"/>
                  <a:pt x="90512" y="258554"/>
                </a:cubicBezTo>
                <a:lnTo>
                  <a:pt x="239372" y="109694"/>
                </a:lnTo>
                <a:lnTo>
                  <a:pt x="244394" y="114717"/>
                </a:lnTo>
                <a:cubicBezTo>
                  <a:pt x="251073" y="121396"/>
                  <a:pt x="261920" y="121396"/>
                  <a:pt x="268599" y="114717"/>
                </a:cubicBezTo>
                <a:cubicBezTo>
                  <a:pt x="275277" y="108038"/>
                  <a:pt x="275277" y="97191"/>
                  <a:pt x="268599" y="90512"/>
                </a:cubicBezTo>
                <a:lnTo>
                  <a:pt x="183109" y="5023"/>
                </a:lnTo>
                <a:close/>
                <a:moveTo>
                  <a:pt x="109694" y="136784"/>
                </a:moveTo>
                <a:lnTo>
                  <a:pt x="188078" y="58400"/>
                </a:lnTo>
                <a:lnTo>
                  <a:pt x="215167" y="85490"/>
                </a:lnTo>
                <a:lnTo>
                  <a:pt x="163873" y="136784"/>
                </a:lnTo>
                <a:lnTo>
                  <a:pt x="109641" y="1367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13125" y="3633891"/>
            <a:ext cx="281774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Tested on Unseen Images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3611" y="4217502"/>
            <a:ext cx="5261619" cy="53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evaluated on new, previously unseen images to verify generalization capability.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4757" y="5152191"/>
            <a:ext cx="5617257" cy="1705239"/>
          </a:xfrm>
          <a:custGeom>
            <a:avLst/>
            <a:gdLst/>
            <a:ahLst/>
            <a:cxnLst/>
            <a:rect l="l" t="t" r="r" b="b"/>
            <a:pathLst>
              <a:path w="5617257" h="1705239">
                <a:moveTo>
                  <a:pt x="109425" y="0"/>
                </a:moveTo>
                <a:lnTo>
                  <a:pt x="5507831" y="0"/>
                </a:lnTo>
                <a:cubicBezTo>
                  <a:pt x="5568265" y="0"/>
                  <a:pt x="5617257" y="48991"/>
                  <a:pt x="5617257" y="109425"/>
                </a:cubicBezTo>
                <a:lnTo>
                  <a:pt x="5617257" y="1595813"/>
                </a:lnTo>
                <a:cubicBezTo>
                  <a:pt x="5617257" y="1656247"/>
                  <a:pt x="5568265" y="1705239"/>
                  <a:pt x="5507831" y="1705239"/>
                </a:cubicBezTo>
                <a:lnTo>
                  <a:pt x="109425" y="1705239"/>
                </a:lnTo>
                <a:cubicBezTo>
                  <a:pt x="48991" y="1705239"/>
                  <a:pt x="0" y="1656247"/>
                  <a:pt x="0" y="1595813"/>
                </a:cubicBezTo>
                <a:lnTo>
                  <a:pt x="0" y="109425"/>
                </a:lnTo>
                <a:cubicBezTo>
                  <a:pt x="0" y="48991"/>
                  <a:pt x="48991" y="0"/>
                  <a:pt x="109425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6D28D9"/>
              </a:gs>
            </a:gsLst>
            <a:lin ang="2700000" scaled="1"/>
          </a:gradFill>
          <a:ln/>
          <a:effectLst>
            <a:outerShdw blurRad="227973" dist="182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3611" y="5371046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109427" y="0"/>
                </a:moveTo>
                <a:lnTo>
                  <a:pt x="474184" y="0"/>
                </a:lnTo>
                <a:cubicBezTo>
                  <a:pt x="534578" y="0"/>
                  <a:pt x="583611" y="49033"/>
                  <a:pt x="583611" y="109427"/>
                </a:cubicBezTo>
                <a:lnTo>
                  <a:pt x="583611" y="474184"/>
                </a:lnTo>
                <a:cubicBezTo>
                  <a:pt x="583611" y="534619"/>
                  <a:pt x="534619" y="583611"/>
                  <a:pt x="474184" y="583611"/>
                </a:cubicBezTo>
                <a:lnTo>
                  <a:pt x="109427" y="583611"/>
                </a:lnTo>
                <a:cubicBezTo>
                  <a:pt x="49033" y="583611"/>
                  <a:pt x="0" y="534578"/>
                  <a:pt x="0" y="474184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5108" y="5526067"/>
            <a:ext cx="205176" cy="273568"/>
          </a:xfrm>
          <a:custGeom>
            <a:avLst/>
            <a:gdLst/>
            <a:ahLst/>
            <a:cxnLst/>
            <a:rect l="l" t="t" r="r" b="b"/>
            <a:pathLst>
              <a:path w="205176" h="273568">
                <a:moveTo>
                  <a:pt x="133525" y="35692"/>
                </a:moveTo>
                <a:cubicBezTo>
                  <a:pt x="139081" y="28051"/>
                  <a:pt x="137372" y="17365"/>
                  <a:pt x="129731" y="11808"/>
                </a:cubicBezTo>
                <a:cubicBezTo>
                  <a:pt x="122090" y="6251"/>
                  <a:pt x="111404" y="7961"/>
                  <a:pt x="105847" y="15602"/>
                </a:cubicBezTo>
                <a:lnTo>
                  <a:pt x="49210" y="93451"/>
                </a:lnTo>
                <a:lnTo>
                  <a:pt x="29173" y="73414"/>
                </a:lnTo>
                <a:cubicBezTo>
                  <a:pt x="22495" y="66736"/>
                  <a:pt x="11648" y="66736"/>
                  <a:pt x="4969" y="73414"/>
                </a:cubicBezTo>
                <a:cubicBezTo>
                  <a:pt x="-1710" y="80093"/>
                  <a:pt x="-1710" y="90940"/>
                  <a:pt x="4969" y="97619"/>
                </a:cubicBezTo>
                <a:lnTo>
                  <a:pt x="39165" y="131815"/>
                </a:lnTo>
                <a:cubicBezTo>
                  <a:pt x="42692" y="135341"/>
                  <a:pt x="47607" y="137158"/>
                  <a:pt x="52576" y="136784"/>
                </a:cubicBezTo>
                <a:cubicBezTo>
                  <a:pt x="57545" y="136410"/>
                  <a:pt x="62140" y="133845"/>
                  <a:pt x="65079" y="129784"/>
                </a:cubicBezTo>
                <a:lnTo>
                  <a:pt x="133471" y="35745"/>
                </a:lnTo>
                <a:close/>
                <a:moveTo>
                  <a:pt x="201916" y="108358"/>
                </a:moveTo>
                <a:cubicBezTo>
                  <a:pt x="207473" y="100718"/>
                  <a:pt x="205764" y="90032"/>
                  <a:pt x="198123" y="84475"/>
                </a:cubicBezTo>
                <a:cubicBezTo>
                  <a:pt x="190482" y="78918"/>
                  <a:pt x="179796" y="80628"/>
                  <a:pt x="174239" y="88268"/>
                </a:cubicBezTo>
                <a:lnTo>
                  <a:pt x="83406" y="213137"/>
                </a:lnTo>
                <a:lnTo>
                  <a:pt x="46271" y="176002"/>
                </a:lnTo>
                <a:cubicBezTo>
                  <a:pt x="39593" y="169323"/>
                  <a:pt x="28746" y="169323"/>
                  <a:pt x="22067" y="176002"/>
                </a:cubicBezTo>
                <a:cubicBezTo>
                  <a:pt x="15388" y="182681"/>
                  <a:pt x="15388" y="193528"/>
                  <a:pt x="22067" y="200207"/>
                </a:cubicBezTo>
                <a:lnTo>
                  <a:pt x="73361" y="251501"/>
                </a:lnTo>
                <a:cubicBezTo>
                  <a:pt x="76887" y="255027"/>
                  <a:pt x="81803" y="256844"/>
                  <a:pt x="86772" y="256470"/>
                </a:cubicBezTo>
                <a:cubicBezTo>
                  <a:pt x="91741" y="256096"/>
                  <a:pt x="96336" y="253531"/>
                  <a:pt x="99275" y="249470"/>
                </a:cubicBezTo>
                <a:lnTo>
                  <a:pt x="201863" y="1084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13125" y="5516948"/>
            <a:ext cx="272655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Successful Classification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3611" y="6100559"/>
            <a:ext cx="5261619" cy="53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classifies both Real and AI-generated images with high accuracy.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04857" y="1386076"/>
            <a:ext cx="5617257" cy="5471354"/>
          </a:xfrm>
          <a:custGeom>
            <a:avLst/>
            <a:gdLst/>
            <a:ahLst/>
            <a:cxnLst/>
            <a:rect l="l" t="t" r="r" b="b"/>
            <a:pathLst>
              <a:path w="5617257" h="5471354">
                <a:moveTo>
                  <a:pt x="109427" y="0"/>
                </a:moveTo>
                <a:lnTo>
                  <a:pt x="5507829" y="0"/>
                </a:lnTo>
                <a:cubicBezTo>
                  <a:pt x="5568264" y="0"/>
                  <a:pt x="5617257" y="48992"/>
                  <a:pt x="5617257" y="109427"/>
                </a:cubicBezTo>
                <a:lnTo>
                  <a:pt x="5617257" y="5361927"/>
                </a:lnTo>
                <a:cubicBezTo>
                  <a:pt x="5617257" y="5422362"/>
                  <a:pt x="5568264" y="5471354"/>
                  <a:pt x="5507829" y="5471354"/>
                </a:cubicBezTo>
                <a:lnTo>
                  <a:pt x="109427" y="5471354"/>
                </a:lnTo>
                <a:cubicBezTo>
                  <a:pt x="48992" y="5471354"/>
                  <a:pt x="0" y="5422362"/>
                  <a:pt x="0" y="5361927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04857" y="1386076"/>
            <a:ext cx="5617257" cy="510660"/>
          </a:xfrm>
          <a:custGeom>
            <a:avLst/>
            <a:gdLst/>
            <a:ahLst/>
            <a:cxnLst/>
            <a:rect l="l" t="t" r="r" b="b"/>
            <a:pathLst>
              <a:path w="5617257" h="510660">
                <a:moveTo>
                  <a:pt x="0" y="0"/>
                </a:moveTo>
                <a:lnTo>
                  <a:pt x="5617257" y="0"/>
                </a:lnTo>
                <a:lnTo>
                  <a:pt x="5617257" y="510660"/>
                </a:lnTo>
                <a:lnTo>
                  <a:pt x="0" y="51066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9879" y="1568455"/>
            <a:ext cx="164141" cy="145903"/>
          </a:xfrm>
          <a:custGeom>
            <a:avLst/>
            <a:gdLst/>
            <a:ahLst/>
            <a:cxnLst/>
            <a:rect l="l" t="t" r="r" b="b"/>
            <a:pathLst>
              <a:path w="164141" h="145903">
                <a:moveTo>
                  <a:pt x="102816" y="342"/>
                </a:moveTo>
                <a:cubicBezTo>
                  <a:pt x="97971" y="-1054"/>
                  <a:pt x="92928" y="1767"/>
                  <a:pt x="91531" y="6611"/>
                </a:cubicBezTo>
                <a:lnTo>
                  <a:pt x="55055" y="134276"/>
                </a:lnTo>
                <a:cubicBezTo>
                  <a:pt x="53659" y="139121"/>
                  <a:pt x="56480" y="144164"/>
                  <a:pt x="61325" y="145561"/>
                </a:cubicBezTo>
                <a:cubicBezTo>
                  <a:pt x="66169" y="146957"/>
                  <a:pt x="71213" y="144136"/>
                  <a:pt x="72609" y="139292"/>
                </a:cubicBezTo>
                <a:lnTo>
                  <a:pt x="109085" y="11627"/>
                </a:lnTo>
                <a:cubicBezTo>
                  <a:pt x="110481" y="6782"/>
                  <a:pt x="107660" y="1738"/>
                  <a:pt x="102816" y="342"/>
                </a:cubicBezTo>
                <a:close/>
                <a:moveTo>
                  <a:pt x="121225" y="39126"/>
                </a:moveTo>
                <a:cubicBezTo>
                  <a:pt x="117663" y="42688"/>
                  <a:pt x="117663" y="48473"/>
                  <a:pt x="121225" y="52035"/>
                </a:cubicBezTo>
                <a:lnTo>
                  <a:pt x="142141" y="72951"/>
                </a:lnTo>
                <a:lnTo>
                  <a:pt x="121225" y="93868"/>
                </a:lnTo>
                <a:cubicBezTo>
                  <a:pt x="117663" y="97430"/>
                  <a:pt x="117663" y="103215"/>
                  <a:pt x="121225" y="106777"/>
                </a:cubicBezTo>
                <a:cubicBezTo>
                  <a:pt x="124787" y="110339"/>
                  <a:pt x="130572" y="110339"/>
                  <a:pt x="134134" y="106777"/>
                </a:cubicBezTo>
                <a:lnTo>
                  <a:pt x="161490" y="79420"/>
                </a:lnTo>
                <a:cubicBezTo>
                  <a:pt x="165053" y="75858"/>
                  <a:pt x="165053" y="70073"/>
                  <a:pt x="161490" y="66511"/>
                </a:cubicBezTo>
                <a:lnTo>
                  <a:pt x="134134" y="39154"/>
                </a:lnTo>
                <a:cubicBezTo>
                  <a:pt x="130572" y="35592"/>
                  <a:pt x="124787" y="35592"/>
                  <a:pt x="121225" y="39154"/>
                </a:cubicBezTo>
                <a:close/>
                <a:moveTo>
                  <a:pt x="42944" y="39126"/>
                </a:moveTo>
                <a:cubicBezTo>
                  <a:pt x="39382" y="35564"/>
                  <a:pt x="33598" y="35564"/>
                  <a:pt x="30035" y="39126"/>
                </a:cubicBezTo>
                <a:lnTo>
                  <a:pt x="2679" y="66483"/>
                </a:lnTo>
                <a:cubicBezTo>
                  <a:pt x="-883" y="70045"/>
                  <a:pt x="-883" y="75830"/>
                  <a:pt x="2679" y="79392"/>
                </a:cubicBezTo>
                <a:lnTo>
                  <a:pt x="30035" y="106748"/>
                </a:lnTo>
                <a:cubicBezTo>
                  <a:pt x="33598" y="110310"/>
                  <a:pt x="39382" y="110310"/>
                  <a:pt x="42944" y="106748"/>
                </a:cubicBezTo>
                <a:cubicBezTo>
                  <a:pt x="46507" y="103186"/>
                  <a:pt x="46507" y="97401"/>
                  <a:pt x="42944" y="93839"/>
                </a:cubicBezTo>
                <a:lnTo>
                  <a:pt x="22028" y="72951"/>
                </a:lnTo>
                <a:lnTo>
                  <a:pt x="42916" y="52035"/>
                </a:lnTo>
                <a:cubicBezTo>
                  <a:pt x="46478" y="48473"/>
                  <a:pt x="46478" y="42688"/>
                  <a:pt x="42916" y="39126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4" name="Text 22"/>
          <p:cNvSpPr/>
          <p:nvPr/>
        </p:nvSpPr>
        <p:spPr>
          <a:xfrm>
            <a:off x="6606090" y="1531979"/>
            <a:ext cx="121281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Output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04857" y="6339173"/>
            <a:ext cx="5617257" cy="6079"/>
          </a:xfrm>
          <a:custGeom>
            <a:avLst/>
            <a:gdLst/>
            <a:ahLst/>
            <a:cxnLst/>
            <a:rect l="l" t="t" r="r" b="b"/>
            <a:pathLst>
              <a:path w="5617257" h="6079">
                <a:moveTo>
                  <a:pt x="0" y="0"/>
                </a:moveTo>
                <a:lnTo>
                  <a:pt x="5617257" y="0"/>
                </a:lnTo>
                <a:lnTo>
                  <a:pt x="5617257" y="6079"/>
                </a:lnTo>
                <a:lnTo>
                  <a:pt x="0" y="6079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549044" y="6488114"/>
            <a:ext cx="5163643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857" y="1916156"/>
            <a:ext cx="5617257" cy="4453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45720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Gradio Interface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0050" y="1447800"/>
            <a:ext cx="5600700" cy="1009650"/>
          </a:xfrm>
          <a:custGeom>
            <a:avLst/>
            <a:gdLst/>
            <a:ahLst/>
            <a:cxnLst/>
            <a:rect l="l" t="t" r="r" b="b"/>
            <a:pathLst>
              <a:path w="5600700" h="1009650">
                <a:moveTo>
                  <a:pt x="38100" y="0"/>
                </a:moveTo>
                <a:lnTo>
                  <a:pt x="5486398" y="0"/>
                </a:lnTo>
                <a:cubicBezTo>
                  <a:pt x="5549525" y="0"/>
                  <a:pt x="5600700" y="51175"/>
                  <a:pt x="5600700" y="114302"/>
                </a:cubicBezTo>
                <a:lnTo>
                  <a:pt x="5600700" y="895348"/>
                </a:lnTo>
                <a:cubicBezTo>
                  <a:pt x="5600700" y="958475"/>
                  <a:pt x="5549525" y="1009650"/>
                  <a:pt x="5486398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4478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600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8656" y="1695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40667"/>
                </a:moveTo>
                <a:lnTo>
                  <a:pt x="95250" y="119063"/>
                </a:lnTo>
                <a:cubicBezTo>
                  <a:pt x="95250" y="125648"/>
                  <a:pt x="89929" y="130969"/>
                  <a:pt x="83344" y="130969"/>
                </a:cubicBezTo>
                <a:cubicBezTo>
                  <a:pt x="76758" y="130969"/>
                  <a:pt x="71438" y="125648"/>
                  <a:pt x="71438" y="119063"/>
                </a:cubicBezTo>
                <a:lnTo>
                  <a:pt x="71438" y="40667"/>
                </a:lnTo>
                <a:lnTo>
                  <a:pt x="56034" y="56071"/>
                </a:lnTo>
                <a:cubicBezTo>
                  <a:pt x="51383" y="60722"/>
                  <a:pt x="43830" y="60722"/>
                  <a:pt x="39179" y="56071"/>
                </a:cubicBezTo>
                <a:cubicBezTo>
                  <a:pt x="34528" y="51420"/>
                  <a:pt x="34528" y="43867"/>
                  <a:pt x="39179" y="39216"/>
                </a:cubicBezTo>
                <a:lnTo>
                  <a:pt x="74898" y="3497"/>
                </a:lnTo>
                <a:cubicBezTo>
                  <a:pt x="79549" y="-1153"/>
                  <a:pt x="87102" y="-1153"/>
                  <a:pt x="91753" y="3497"/>
                </a:cubicBezTo>
                <a:lnTo>
                  <a:pt x="127471" y="39216"/>
                </a:lnTo>
                <a:cubicBezTo>
                  <a:pt x="132122" y="43867"/>
                  <a:pt x="132122" y="51420"/>
                  <a:pt x="127471" y="56071"/>
                </a:cubicBezTo>
                <a:cubicBezTo>
                  <a:pt x="122820" y="60722"/>
                  <a:pt x="115267" y="60722"/>
                  <a:pt x="110617" y="56071"/>
                </a:cubicBezTo>
                <a:lnTo>
                  <a:pt x="95250" y="40667"/>
                </a:lnTo>
                <a:close/>
                <a:moveTo>
                  <a:pt x="83344" y="148828"/>
                </a:moveTo>
                <a:cubicBezTo>
                  <a:pt x="99789" y="148828"/>
                  <a:pt x="113109" y="135508"/>
                  <a:pt x="113109" y="119063"/>
                </a:cubicBezTo>
                <a:lnTo>
                  <a:pt x="142875" y="119063"/>
                </a:lnTo>
                <a:cubicBezTo>
                  <a:pt x="156009" y="119063"/>
                  <a:pt x="166688" y="129741"/>
                  <a:pt x="166688" y="14287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42875"/>
                </a:lnTo>
                <a:cubicBezTo>
                  <a:pt x="0" y="129741"/>
                  <a:pt x="10678" y="119063"/>
                  <a:pt x="23812" y="119063"/>
                </a:cubicBezTo>
                <a:lnTo>
                  <a:pt x="53578" y="119063"/>
                </a:lnTo>
                <a:cubicBezTo>
                  <a:pt x="53578" y="135508"/>
                  <a:pt x="66898" y="148828"/>
                  <a:pt x="83344" y="148828"/>
                </a:cubicBezTo>
                <a:close/>
                <a:moveTo>
                  <a:pt x="136922" y="157758"/>
                </a:moveTo>
                <a:cubicBezTo>
                  <a:pt x="141850" y="157758"/>
                  <a:pt x="145852" y="153757"/>
                  <a:pt x="145852" y="148828"/>
                </a:cubicBezTo>
                <a:cubicBezTo>
                  <a:pt x="145852" y="143900"/>
                  <a:pt x="141850" y="139898"/>
                  <a:pt x="136922" y="139898"/>
                </a:cubicBezTo>
                <a:cubicBezTo>
                  <a:pt x="131993" y="139898"/>
                  <a:pt x="127992" y="143900"/>
                  <a:pt x="127992" y="148828"/>
                </a:cubicBezTo>
                <a:cubicBezTo>
                  <a:pt x="127992" y="153757"/>
                  <a:pt x="131993" y="157758"/>
                  <a:pt x="136922" y="15775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165735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Image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057400"/>
            <a:ext cx="5353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can easily upload images through the intuitive drag-and-drop interface.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571750"/>
            <a:ext cx="5600700" cy="1009650"/>
          </a:xfrm>
          <a:custGeom>
            <a:avLst/>
            <a:gdLst/>
            <a:ahLst/>
            <a:cxnLst/>
            <a:rect l="l" t="t" r="r" b="b"/>
            <a:pathLst>
              <a:path w="5600700" h="1009650">
                <a:moveTo>
                  <a:pt x="38100" y="0"/>
                </a:moveTo>
                <a:lnTo>
                  <a:pt x="5486398" y="0"/>
                </a:lnTo>
                <a:cubicBezTo>
                  <a:pt x="5549525" y="0"/>
                  <a:pt x="5600700" y="51175"/>
                  <a:pt x="5600700" y="114302"/>
                </a:cubicBezTo>
                <a:lnTo>
                  <a:pt x="5600700" y="895348"/>
                </a:lnTo>
                <a:cubicBezTo>
                  <a:pt x="5600700" y="958475"/>
                  <a:pt x="5549525" y="1009650"/>
                  <a:pt x="5486398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257175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" y="2724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2938" y="28194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278130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Processes Input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3181350"/>
            <a:ext cx="5353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 model automatically processes the uploaded image through the pipeline.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695700"/>
            <a:ext cx="5600700" cy="1009650"/>
          </a:xfrm>
          <a:custGeom>
            <a:avLst/>
            <a:gdLst/>
            <a:ahLst/>
            <a:cxnLst/>
            <a:rect l="l" t="t" r="r" b="b"/>
            <a:pathLst>
              <a:path w="5600700" h="1009650">
                <a:moveTo>
                  <a:pt x="38100" y="0"/>
                </a:moveTo>
                <a:lnTo>
                  <a:pt x="5486398" y="0"/>
                </a:lnTo>
                <a:cubicBezTo>
                  <a:pt x="5549525" y="0"/>
                  <a:pt x="5600700" y="51175"/>
                  <a:pt x="5600700" y="114302"/>
                </a:cubicBezTo>
                <a:lnTo>
                  <a:pt x="5600700" y="895348"/>
                </a:lnTo>
                <a:cubicBezTo>
                  <a:pt x="5600700" y="958475"/>
                  <a:pt x="5549525" y="1009650"/>
                  <a:pt x="5486398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36957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8656" y="39433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390525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Displays Result Instantly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305300"/>
            <a:ext cx="5353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prediction results displayed immediately after processing.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4819650"/>
            <a:ext cx="5600700" cy="1009650"/>
          </a:xfrm>
          <a:custGeom>
            <a:avLst/>
            <a:gdLst/>
            <a:ahLst/>
            <a:cxnLst/>
            <a:rect l="l" t="t" r="r" b="b"/>
            <a:pathLst>
              <a:path w="5600700" h="1009650">
                <a:moveTo>
                  <a:pt x="38100" y="0"/>
                </a:moveTo>
                <a:lnTo>
                  <a:pt x="5486398" y="0"/>
                </a:lnTo>
                <a:cubicBezTo>
                  <a:pt x="5549525" y="0"/>
                  <a:pt x="5600700" y="51175"/>
                  <a:pt x="5600700" y="114302"/>
                </a:cubicBezTo>
                <a:lnTo>
                  <a:pt x="5600700" y="895348"/>
                </a:lnTo>
                <a:cubicBezTo>
                  <a:pt x="5600700" y="958475"/>
                  <a:pt x="5549525" y="1009650"/>
                  <a:pt x="5486398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0050" y="481965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" y="4972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4844" y="50673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502920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Shows Confidence Score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5429250"/>
            <a:ext cx="5353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score provides transparency and confidence in predictions.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1250" y="1447800"/>
            <a:ext cx="5619750" cy="2133600"/>
          </a:xfrm>
          <a:custGeom>
            <a:avLst/>
            <a:gdLst/>
            <a:ahLst/>
            <a:cxnLst/>
            <a:rect l="l" t="t" r="r" b="b"/>
            <a:pathLst>
              <a:path w="5619750" h="213360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2019303"/>
                </a:lnTo>
                <a:cubicBezTo>
                  <a:pt x="5619750" y="2082428"/>
                  <a:pt x="5568578" y="2133600"/>
                  <a:pt x="5505453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1250" y="1447800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0" y="0"/>
                </a:moveTo>
                <a:lnTo>
                  <a:pt x="5619750" y="0"/>
                </a:lnTo>
                <a:lnTo>
                  <a:pt x="56197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2" name="Shape 30"/>
          <p:cNvSpPr/>
          <p:nvPr/>
        </p:nvSpPr>
        <p:spPr>
          <a:xfrm>
            <a:off x="6334125" y="1600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72250" y="156210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- Upload Interface</a:t>
            </a:r>
            <a:endParaRPr lang="en-US" sz="1600" dirty="0"/>
          </a:p>
        </p:txBody>
      </p:sp>
      <p:pic>
        <p:nvPicPr>
          <p:cNvPr id="34" name="Image 0" descr="https://kimi-img.moonshot.cn/pub/slides/okc/ho2ml3tf4k7vq/gradio_empty.jpg"/>
          <p:cNvPicPr>
            <a:picLocks noChangeAspect="1"/>
          </p:cNvPicPr>
          <p:nvPr/>
        </p:nvPicPr>
        <p:blipFill>
          <a:blip r:embed="rId3"/>
          <a:srcRect t="20095" b="20095"/>
          <a:stretch/>
        </p:blipFill>
        <p:spPr>
          <a:xfrm>
            <a:off x="6191250" y="1905000"/>
            <a:ext cx="5619750" cy="1676400"/>
          </a:xfrm>
          <a:prstGeom prst="roundRect">
            <a:avLst>
              <a:gd name="adj" fmla="val 5357"/>
            </a:avLst>
          </a:prstGeom>
        </p:spPr>
      </p:pic>
      <p:sp>
        <p:nvSpPr>
          <p:cNvPr id="35" name="Shape 32"/>
          <p:cNvSpPr/>
          <p:nvPr/>
        </p:nvSpPr>
        <p:spPr>
          <a:xfrm>
            <a:off x="6191250" y="3695700"/>
            <a:ext cx="5619750" cy="2133600"/>
          </a:xfrm>
          <a:custGeom>
            <a:avLst/>
            <a:gdLst/>
            <a:ahLst/>
            <a:cxnLst/>
            <a:rect l="l" t="t" r="r" b="b"/>
            <a:pathLst>
              <a:path w="5619750" h="213360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2019303"/>
                </a:lnTo>
                <a:cubicBezTo>
                  <a:pt x="5619750" y="2082428"/>
                  <a:pt x="5568578" y="2133600"/>
                  <a:pt x="5505453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191250" y="3695700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0" y="0"/>
                </a:moveTo>
                <a:lnTo>
                  <a:pt x="5619750" y="0"/>
                </a:lnTo>
                <a:lnTo>
                  <a:pt x="56197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7" name="Shape 34"/>
          <p:cNvSpPr/>
          <p:nvPr/>
        </p:nvSpPr>
        <p:spPr>
          <a:xfrm>
            <a:off x="6324600" y="3848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6572250" y="38100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- Prediction Result</a:t>
            </a:r>
            <a:endParaRPr lang="en-US" sz="1600" dirty="0"/>
          </a:p>
        </p:txBody>
      </p:sp>
      <p:pic>
        <p:nvPicPr>
          <p:cNvPr id="39" name="Image 1" descr="https://kimi-img.moonshot.cn/pub/slides/okc/ho2ml3tf4k7vq/gradio_result.jpg"/>
          <p:cNvPicPr>
            <a:picLocks noChangeAspect="1"/>
          </p:cNvPicPr>
          <p:nvPr/>
        </p:nvPicPr>
        <p:blipFill>
          <a:blip r:embed="rId4"/>
          <a:srcRect t="15663" b="15663"/>
          <a:stretch/>
        </p:blipFill>
        <p:spPr>
          <a:xfrm>
            <a:off x="6191250" y="4152900"/>
            <a:ext cx="5619750" cy="1676400"/>
          </a:xfrm>
          <a:prstGeom prst="roundRect">
            <a:avLst>
              <a:gd name="adj" fmla="val 5357"/>
            </a:avLst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54144" y="430940"/>
            <a:ext cx="65538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9116" y="790056"/>
            <a:ext cx="11689237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3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Report Generation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7072" y="1364642"/>
            <a:ext cx="3707876" cy="1364642"/>
          </a:xfrm>
          <a:custGeom>
            <a:avLst/>
            <a:gdLst/>
            <a:ahLst/>
            <a:cxnLst/>
            <a:rect l="l" t="t" r="r" b="b"/>
            <a:pathLst>
              <a:path w="3707876" h="1364642">
                <a:moveTo>
                  <a:pt x="35912" y="0"/>
                </a:moveTo>
                <a:lnTo>
                  <a:pt x="3600138" y="0"/>
                </a:lnTo>
                <a:cubicBezTo>
                  <a:pt x="3659640" y="0"/>
                  <a:pt x="3707876" y="48236"/>
                  <a:pt x="3707876" y="107738"/>
                </a:cubicBezTo>
                <a:lnTo>
                  <a:pt x="3707876" y="1256904"/>
                </a:lnTo>
                <a:cubicBezTo>
                  <a:pt x="3707876" y="1316366"/>
                  <a:pt x="3659600" y="1364642"/>
                  <a:pt x="3600138" y="1364642"/>
                </a:cubicBezTo>
                <a:lnTo>
                  <a:pt x="35912" y="1364642"/>
                </a:lnTo>
                <a:cubicBezTo>
                  <a:pt x="16078" y="1364642"/>
                  <a:pt x="0" y="1348564"/>
                  <a:pt x="0" y="1328730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669" dist="8977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7072" y="1364642"/>
            <a:ext cx="35912" cy="1364642"/>
          </a:xfrm>
          <a:custGeom>
            <a:avLst/>
            <a:gdLst/>
            <a:ahLst/>
            <a:cxnLst/>
            <a:rect l="l" t="t" r="r" b="b"/>
            <a:pathLst>
              <a:path w="35912" h="1364642">
                <a:moveTo>
                  <a:pt x="35912" y="0"/>
                </a:moveTo>
                <a:lnTo>
                  <a:pt x="35912" y="0"/>
                </a:lnTo>
                <a:lnTo>
                  <a:pt x="35912" y="1364642"/>
                </a:lnTo>
                <a:lnTo>
                  <a:pt x="35912" y="1364642"/>
                </a:lnTo>
                <a:cubicBezTo>
                  <a:pt x="16078" y="1364642"/>
                  <a:pt x="0" y="1348564"/>
                  <a:pt x="0" y="1328730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74586" y="1544200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71825" y="0"/>
                </a:moveTo>
                <a:lnTo>
                  <a:pt x="359115" y="0"/>
                </a:lnTo>
                <a:cubicBezTo>
                  <a:pt x="398756" y="0"/>
                  <a:pt x="430940" y="32184"/>
                  <a:pt x="430940" y="71825"/>
                </a:cubicBezTo>
                <a:lnTo>
                  <a:pt x="430940" y="359115"/>
                </a:lnTo>
                <a:cubicBezTo>
                  <a:pt x="430940" y="398756"/>
                  <a:pt x="398756" y="430940"/>
                  <a:pt x="359115" y="430940"/>
                </a:cubicBezTo>
                <a:lnTo>
                  <a:pt x="71825" y="430940"/>
                </a:lnTo>
                <a:cubicBezTo>
                  <a:pt x="32184" y="430940"/>
                  <a:pt x="0" y="398756"/>
                  <a:pt x="0" y="359115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9255" y="1651935"/>
            <a:ext cx="161602" cy="215470"/>
          </a:xfrm>
          <a:custGeom>
            <a:avLst/>
            <a:gdLst/>
            <a:ahLst/>
            <a:cxnLst/>
            <a:rect l="l" t="t" r="r" b="b"/>
            <a:pathLst>
              <a:path w="161602" h="215470">
                <a:moveTo>
                  <a:pt x="131049" y="13467"/>
                </a:moveTo>
                <a:lnTo>
                  <a:pt x="134669" y="13467"/>
                </a:lnTo>
                <a:cubicBezTo>
                  <a:pt x="149524" y="13467"/>
                  <a:pt x="161602" y="25545"/>
                  <a:pt x="161602" y="40401"/>
                </a:cubicBezTo>
                <a:lnTo>
                  <a:pt x="161602" y="188536"/>
                </a:lnTo>
                <a:cubicBezTo>
                  <a:pt x="161602" y="203392"/>
                  <a:pt x="149524" y="215470"/>
                  <a:pt x="134669" y="215470"/>
                </a:cubicBezTo>
                <a:lnTo>
                  <a:pt x="26934" y="215470"/>
                </a:lnTo>
                <a:cubicBezTo>
                  <a:pt x="12078" y="215470"/>
                  <a:pt x="0" y="203392"/>
                  <a:pt x="0" y="188536"/>
                </a:cubicBezTo>
                <a:lnTo>
                  <a:pt x="0" y="40401"/>
                </a:lnTo>
                <a:cubicBezTo>
                  <a:pt x="0" y="25545"/>
                  <a:pt x="12078" y="13467"/>
                  <a:pt x="26934" y="13467"/>
                </a:cubicBezTo>
                <a:lnTo>
                  <a:pt x="30553" y="13467"/>
                </a:lnTo>
                <a:cubicBezTo>
                  <a:pt x="35182" y="5429"/>
                  <a:pt x="43894" y="0"/>
                  <a:pt x="53867" y="0"/>
                </a:cubicBezTo>
                <a:lnTo>
                  <a:pt x="107735" y="0"/>
                </a:lnTo>
                <a:cubicBezTo>
                  <a:pt x="117709" y="0"/>
                  <a:pt x="126420" y="5429"/>
                  <a:pt x="131049" y="13467"/>
                </a:cubicBezTo>
                <a:close/>
                <a:moveTo>
                  <a:pt x="104368" y="47134"/>
                </a:moveTo>
                <a:cubicBezTo>
                  <a:pt x="109965" y="47134"/>
                  <a:pt x="114468" y="42631"/>
                  <a:pt x="114468" y="37034"/>
                </a:cubicBezTo>
                <a:cubicBezTo>
                  <a:pt x="114468" y="31437"/>
                  <a:pt x="109965" y="26934"/>
                  <a:pt x="104368" y="26934"/>
                </a:cubicBezTo>
                <a:lnTo>
                  <a:pt x="57234" y="26934"/>
                </a:lnTo>
                <a:cubicBezTo>
                  <a:pt x="51637" y="26934"/>
                  <a:pt x="47134" y="31437"/>
                  <a:pt x="47134" y="37034"/>
                </a:cubicBezTo>
                <a:cubicBezTo>
                  <a:pt x="47134" y="42631"/>
                  <a:pt x="51637" y="47134"/>
                  <a:pt x="57234" y="47134"/>
                </a:cubicBezTo>
                <a:lnTo>
                  <a:pt x="104368" y="47134"/>
                </a:lnTo>
                <a:close/>
                <a:moveTo>
                  <a:pt x="116320" y="109713"/>
                </a:moveTo>
                <a:cubicBezTo>
                  <a:pt x="119266" y="104999"/>
                  <a:pt x="117835" y="98771"/>
                  <a:pt x="113122" y="95783"/>
                </a:cubicBezTo>
                <a:cubicBezTo>
                  <a:pt x="108408" y="92795"/>
                  <a:pt x="102180" y="94268"/>
                  <a:pt x="99192" y="98981"/>
                </a:cubicBezTo>
                <a:lnTo>
                  <a:pt x="73352" y="140350"/>
                </a:lnTo>
                <a:lnTo>
                  <a:pt x="61990" y="125200"/>
                </a:lnTo>
                <a:cubicBezTo>
                  <a:pt x="58623" y="120739"/>
                  <a:pt x="52310" y="119813"/>
                  <a:pt x="47849" y="123180"/>
                </a:cubicBezTo>
                <a:cubicBezTo>
                  <a:pt x="43389" y="126546"/>
                  <a:pt x="42463" y="132859"/>
                  <a:pt x="45829" y="137320"/>
                </a:cubicBezTo>
                <a:lnTo>
                  <a:pt x="66030" y="164254"/>
                </a:lnTo>
                <a:cubicBezTo>
                  <a:pt x="68008" y="166905"/>
                  <a:pt x="71206" y="168420"/>
                  <a:pt x="74531" y="168294"/>
                </a:cubicBezTo>
                <a:cubicBezTo>
                  <a:pt x="77855" y="168167"/>
                  <a:pt x="80885" y="166400"/>
                  <a:pt x="82653" y="163538"/>
                </a:cubicBezTo>
                <a:lnTo>
                  <a:pt x="116320" y="10967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13261" y="1633979"/>
            <a:ext cx="129281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Result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4586" y="2082875"/>
            <a:ext cx="340262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Displays clear classification result: REAL or AI-GENERATED.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7072" y="2837019"/>
            <a:ext cx="3707876" cy="1364642"/>
          </a:xfrm>
          <a:custGeom>
            <a:avLst/>
            <a:gdLst/>
            <a:ahLst/>
            <a:cxnLst/>
            <a:rect l="l" t="t" r="r" b="b"/>
            <a:pathLst>
              <a:path w="3707876" h="1364642">
                <a:moveTo>
                  <a:pt x="35912" y="0"/>
                </a:moveTo>
                <a:lnTo>
                  <a:pt x="3600138" y="0"/>
                </a:lnTo>
                <a:cubicBezTo>
                  <a:pt x="3659640" y="0"/>
                  <a:pt x="3707876" y="48236"/>
                  <a:pt x="3707876" y="107738"/>
                </a:cubicBezTo>
                <a:lnTo>
                  <a:pt x="3707876" y="1256904"/>
                </a:lnTo>
                <a:cubicBezTo>
                  <a:pt x="3707876" y="1316366"/>
                  <a:pt x="3659600" y="1364642"/>
                  <a:pt x="3600138" y="1364642"/>
                </a:cubicBezTo>
                <a:lnTo>
                  <a:pt x="35912" y="1364642"/>
                </a:lnTo>
                <a:cubicBezTo>
                  <a:pt x="16078" y="1364642"/>
                  <a:pt x="0" y="1348564"/>
                  <a:pt x="0" y="1328730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669" dist="8977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7072" y="2837019"/>
            <a:ext cx="35912" cy="1364642"/>
          </a:xfrm>
          <a:custGeom>
            <a:avLst/>
            <a:gdLst/>
            <a:ahLst/>
            <a:cxnLst/>
            <a:rect l="l" t="t" r="r" b="b"/>
            <a:pathLst>
              <a:path w="35912" h="1364642">
                <a:moveTo>
                  <a:pt x="35912" y="0"/>
                </a:moveTo>
                <a:lnTo>
                  <a:pt x="35912" y="0"/>
                </a:lnTo>
                <a:lnTo>
                  <a:pt x="35912" y="1364642"/>
                </a:lnTo>
                <a:lnTo>
                  <a:pt x="35912" y="1364642"/>
                </a:lnTo>
                <a:cubicBezTo>
                  <a:pt x="16078" y="1364642"/>
                  <a:pt x="0" y="1348564"/>
                  <a:pt x="0" y="1328730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74586" y="3016577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71825" y="0"/>
                </a:moveTo>
                <a:lnTo>
                  <a:pt x="359115" y="0"/>
                </a:lnTo>
                <a:cubicBezTo>
                  <a:pt x="398756" y="0"/>
                  <a:pt x="430940" y="32184"/>
                  <a:pt x="430940" y="71825"/>
                </a:cubicBezTo>
                <a:lnTo>
                  <a:pt x="430940" y="359115"/>
                </a:lnTo>
                <a:cubicBezTo>
                  <a:pt x="430940" y="398756"/>
                  <a:pt x="398756" y="430940"/>
                  <a:pt x="359115" y="430940"/>
                </a:cubicBezTo>
                <a:lnTo>
                  <a:pt x="71825" y="430940"/>
                </a:lnTo>
                <a:cubicBezTo>
                  <a:pt x="32184" y="430940"/>
                  <a:pt x="0" y="398756"/>
                  <a:pt x="0" y="359115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95788" y="3124312"/>
            <a:ext cx="188536" cy="215470"/>
          </a:xfrm>
          <a:custGeom>
            <a:avLst/>
            <a:gdLst/>
            <a:ahLst/>
            <a:cxnLst/>
            <a:rect l="l" t="t" r="r" b="b"/>
            <a:pathLst>
              <a:path w="188536" h="215470">
                <a:moveTo>
                  <a:pt x="80801" y="53867"/>
                </a:moveTo>
                <a:cubicBezTo>
                  <a:pt x="80801" y="31570"/>
                  <a:pt x="62698" y="13467"/>
                  <a:pt x="40401" y="13467"/>
                </a:cubicBezTo>
                <a:cubicBezTo>
                  <a:pt x="18103" y="13467"/>
                  <a:pt x="0" y="31570"/>
                  <a:pt x="0" y="53867"/>
                </a:cubicBezTo>
                <a:cubicBezTo>
                  <a:pt x="0" y="76165"/>
                  <a:pt x="18103" y="94268"/>
                  <a:pt x="40401" y="94268"/>
                </a:cubicBezTo>
                <a:cubicBezTo>
                  <a:pt x="62698" y="94268"/>
                  <a:pt x="80801" y="76165"/>
                  <a:pt x="80801" y="53867"/>
                </a:cubicBezTo>
                <a:close/>
                <a:moveTo>
                  <a:pt x="188536" y="161602"/>
                </a:moveTo>
                <a:cubicBezTo>
                  <a:pt x="188536" y="139305"/>
                  <a:pt x="170433" y="121202"/>
                  <a:pt x="148135" y="121202"/>
                </a:cubicBezTo>
                <a:cubicBezTo>
                  <a:pt x="125838" y="121202"/>
                  <a:pt x="107735" y="139305"/>
                  <a:pt x="107735" y="161602"/>
                </a:cubicBezTo>
                <a:cubicBezTo>
                  <a:pt x="107735" y="183900"/>
                  <a:pt x="125838" y="202003"/>
                  <a:pt x="148135" y="202003"/>
                </a:cubicBezTo>
                <a:cubicBezTo>
                  <a:pt x="170433" y="202003"/>
                  <a:pt x="188536" y="183900"/>
                  <a:pt x="188536" y="161602"/>
                </a:cubicBezTo>
                <a:close/>
                <a:moveTo>
                  <a:pt x="184580" y="36445"/>
                </a:moveTo>
                <a:cubicBezTo>
                  <a:pt x="189841" y="31184"/>
                  <a:pt x="189841" y="22641"/>
                  <a:pt x="184580" y="17381"/>
                </a:cubicBezTo>
                <a:cubicBezTo>
                  <a:pt x="179320" y="12120"/>
                  <a:pt x="170777" y="12120"/>
                  <a:pt x="165516" y="17381"/>
                </a:cubicBezTo>
                <a:lnTo>
                  <a:pt x="3914" y="178983"/>
                </a:lnTo>
                <a:cubicBezTo>
                  <a:pt x="-1347" y="184244"/>
                  <a:pt x="-1347" y="192787"/>
                  <a:pt x="3914" y="198047"/>
                </a:cubicBezTo>
                <a:cubicBezTo>
                  <a:pt x="9174" y="203308"/>
                  <a:pt x="17717" y="203308"/>
                  <a:pt x="22978" y="198047"/>
                </a:cubicBezTo>
                <a:lnTo>
                  <a:pt x="184580" y="3644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113261" y="3106356"/>
            <a:ext cx="129281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Score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4586" y="3555252"/>
            <a:ext cx="340262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Shows confidence percentage for the prediction decision.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7072" y="4309396"/>
            <a:ext cx="3707876" cy="1364642"/>
          </a:xfrm>
          <a:custGeom>
            <a:avLst/>
            <a:gdLst/>
            <a:ahLst/>
            <a:cxnLst/>
            <a:rect l="l" t="t" r="r" b="b"/>
            <a:pathLst>
              <a:path w="3707876" h="1364642">
                <a:moveTo>
                  <a:pt x="35912" y="0"/>
                </a:moveTo>
                <a:lnTo>
                  <a:pt x="3600138" y="0"/>
                </a:lnTo>
                <a:cubicBezTo>
                  <a:pt x="3659640" y="0"/>
                  <a:pt x="3707876" y="48236"/>
                  <a:pt x="3707876" y="107738"/>
                </a:cubicBezTo>
                <a:lnTo>
                  <a:pt x="3707876" y="1256904"/>
                </a:lnTo>
                <a:cubicBezTo>
                  <a:pt x="3707876" y="1316366"/>
                  <a:pt x="3659600" y="1364642"/>
                  <a:pt x="3600138" y="1364642"/>
                </a:cubicBezTo>
                <a:lnTo>
                  <a:pt x="35912" y="1364642"/>
                </a:lnTo>
                <a:cubicBezTo>
                  <a:pt x="16078" y="1364642"/>
                  <a:pt x="0" y="1348564"/>
                  <a:pt x="0" y="1328730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669" dist="8977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7072" y="4309396"/>
            <a:ext cx="35912" cy="1364642"/>
          </a:xfrm>
          <a:custGeom>
            <a:avLst/>
            <a:gdLst/>
            <a:ahLst/>
            <a:cxnLst/>
            <a:rect l="l" t="t" r="r" b="b"/>
            <a:pathLst>
              <a:path w="35912" h="1364642">
                <a:moveTo>
                  <a:pt x="35912" y="0"/>
                </a:moveTo>
                <a:lnTo>
                  <a:pt x="35912" y="0"/>
                </a:lnTo>
                <a:lnTo>
                  <a:pt x="35912" y="1364642"/>
                </a:lnTo>
                <a:lnTo>
                  <a:pt x="35912" y="1364642"/>
                </a:lnTo>
                <a:cubicBezTo>
                  <a:pt x="16078" y="1364642"/>
                  <a:pt x="0" y="1348564"/>
                  <a:pt x="0" y="1328730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74586" y="4488954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71825" y="0"/>
                </a:moveTo>
                <a:lnTo>
                  <a:pt x="359115" y="0"/>
                </a:lnTo>
                <a:cubicBezTo>
                  <a:pt x="398756" y="0"/>
                  <a:pt x="430940" y="32184"/>
                  <a:pt x="430940" y="71825"/>
                </a:cubicBezTo>
                <a:lnTo>
                  <a:pt x="430940" y="359115"/>
                </a:lnTo>
                <a:cubicBezTo>
                  <a:pt x="430940" y="398756"/>
                  <a:pt x="398756" y="430940"/>
                  <a:pt x="359115" y="430940"/>
                </a:cubicBezTo>
                <a:lnTo>
                  <a:pt x="71825" y="430940"/>
                </a:lnTo>
                <a:cubicBezTo>
                  <a:pt x="32184" y="430940"/>
                  <a:pt x="0" y="398756"/>
                  <a:pt x="0" y="359115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9255" y="4596689"/>
            <a:ext cx="161602" cy="215470"/>
          </a:xfrm>
          <a:custGeom>
            <a:avLst/>
            <a:gdLst/>
            <a:ahLst/>
            <a:cxnLst/>
            <a:rect l="l" t="t" r="r" b="b"/>
            <a:pathLst>
              <a:path w="161602" h="215470">
                <a:moveTo>
                  <a:pt x="123264" y="161602"/>
                </a:moveTo>
                <a:cubicBezTo>
                  <a:pt x="126336" y="152218"/>
                  <a:pt x="132480" y="143717"/>
                  <a:pt x="139424" y="136394"/>
                </a:cubicBezTo>
                <a:cubicBezTo>
                  <a:pt x="153186" y="121917"/>
                  <a:pt x="161602" y="102348"/>
                  <a:pt x="161602" y="80801"/>
                </a:cubicBezTo>
                <a:cubicBezTo>
                  <a:pt x="161602" y="36192"/>
                  <a:pt x="125410" y="0"/>
                  <a:pt x="80801" y="0"/>
                </a:cubicBezTo>
                <a:cubicBezTo>
                  <a:pt x="36192" y="0"/>
                  <a:pt x="0" y="36192"/>
                  <a:pt x="0" y="80801"/>
                </a:cubicBezTo>
                <a:cubicBezTo>
                  <a:pt x="0" y="102348"/>
                  <a:pt x="8417" y="121917"/>
                  <a:pt x="22178" y="136394"/>
                </a:cubicBezTo>
                <a:cubicBezTo>
                  <a:pt x="29122" y="143717"/>
                  <a:pt x="35308" y="152218"/>
                  <a:pt x="38338" y="161602"/>
                </a:cubicBezTo>
                <a:lnTo>
                  <a:pt x="123222" y="161602"/>
                </a:lnTo>
                <a:close/>
                <a:moveTo>
                  <a:pt x="121202" y="181803"/>
                </a:moveTo>
                <a:lnTo>
                  <a:pt x="40401" y="181803"/>
                </a:lnTo>
                <a:lnTo>
                  <a:pt x="40401" y="188536"/>
                </a:lnTo>
                <a:cubicBezTo>
                  <a:pt x="40401" y="207137"/>
                  <a:pt x="55467" y="222203"/>
                  <a:pt x="74068" y="222203"/>
                </a:cubicBezTo>
                <a:lnTo>
                  <a:pt x="87535" y="222203"/>
                </a:lnTo>
                <a:cubicBezTo>
                  <a:pt x="106136" y="222203"/>
                  <a:pt x="121202" y="207137"/>
                  <a:pt x="121202" y="188536"/>
                </a:cubicBezTo>
                <a:lnTo>
                  <a:pt x="121202" y="181803"/>
                </a:lnTo>
                <a:close/>
                <a:moveTo>
                  <a:pt x="77434" y="47134"/>
                </a:moveTo>
                <a:cubicBezTo>
                  <a:pt x="60685" y="47134"/>
                  <a:pt x="47134" y="60685"/>
                  <a:pt x="47134" y="77434"/>
                </a:cubicBezTo>
                <a:cubicBezTo>
                  <a:pt x="47134" y="83032"/>
                  <a:pt x="42631" y="87535"/>
                  <a:pt x="37034" y="87535"/>
                </a:cubicBezTo>
                <a:cubicBezTo>
                  <a:pt x="31437" y="87535"/>
                  <a:pt x="26934" y="83032"/>
                  <a:pt x="26934" y="77434"/>
                </a:cubicBezTo>
                <a:cubicBezTo>
                  <a:pt x="26934" y="49533"/>
                  <a:pt x="49533" y="26934"/>
                  <a:pt x="77434" y="26934"/>
                </a:cubicBezTo>
                <a:cubicBezTo>
                  <a:pt x="83032" y="26934"/>
                  <a:pt x="87535" y="31437"/>
                  <a:pt x="87535" y="37034"/>
                </a:cubicBezTo>
                <a:cubicBezTo>
                  <a:pt x="87535" y="42631"/>
                  <a:pt x="83032" y="47134"/>
                  <a:pt x="77434" y="4713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113261" y="4578733"/>
            <a:ext cx="1840471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Interpretability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4586" y="5027629"/>
            <a:ext cx="340262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explanations enhance understanding of model decisions.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4065" y="843923"/>
            <a:ext cx="3417236" cy="323205"/>
          </a:xfrm>
          <a:custGeom>
            <a:avLst/>
            <a:gdLst/>
            <a:ahLst/>
            <a:cxnLst/>
            <a:rect l="l" t="t" r="r" b="b"/>
            <a:pathLst>
              <a:path w="7604289" h="323205">
                <a:moveTo>
                  <a:pt x="0" y="0"/>
                </a:moveTo>
                <a:lnTo>
                  <a:pt x="7604289" y="0"/>
                </a:lnTo>
                <a:lnTo>
                  <a:pt x="7604289" y="323205"/>
                </a:lnTo>
                <a:lnTo>
                  <a:pt x="0" y="323205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4555092" y="933701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95503" y="59675"/>
                </a:moveTo>
                <a:lnTo>
                  <a:pt x="73058" y="95587"/>
                </a:lnTo>
                <a:cubicBezTo>
                  <a:pt x="71879" y="97466"/>
                  <a:pt x="69859" y="98645"/>
                  <a:pt x="67643" y="98757"/>
                </a:cubicBezTo>
                <a:cubicBezTo>
                  <a:pt x="65427" y="98869"/>
                  <a:pt x="63294" y="97859"/>
                  <a:pt x="61976" y="96064"/>
                </a:cubicBezTo>
                <a:lnTo>
                  <a:pt x="48509" y="78108"/>
                </a:lnTo>
                <a:cubicBezTo>
                  <a:pt x="46264" y="75134"/>
                  <a:pt x="46882" y="70925"/>
                  <a:pt x="49855" y="68681"/>
                </a:cubicBezTo>
                <a:cubicBezTo>
                  <a:pt x="52829" y="66437"/>
                  <a:pt x="57038" y="67054"/>
                  <a:pt x="59282" y="70028"/>
                </a:cubicBezTo>
                <a:lnTo>
                  <a:pt x="66857" y="80128"/>
                </a:lnTo>
                <a:lnTo>
                  <a:pt x="84084" y="52549"/>
                </a:lnTo>
                <a:cubicBezTo>
                  <a:pt x="86048" y="49407"/>
                  <a:pt x="90200" y="48425"/>
                  <a:pt x="93370" y="50417"/>
                </a:cubicBezTo>
                <a:cubicBezTo>
                  <a:pt x="96541" y="52409"/>
                  <a:pt x="97494" y="56533"/>
                  <a:pt x="95503" y="597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93362" y="915747"/>
            <a:ext cx="113121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Image Report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861301" y="843921"/>
            <a:ext cx="4187051" cy="323205"/>
          </a:xfrm>
          <a:custGeom>
            <a:avLst/>
            <a:gdLst/>
            <a:ahLst/>
            <a:cxnLst/>
            <a:rect l="l" t="t" r="r" b="b"/>
            <a:pathLst>
              <a:path w="7604289" h="323205">
                <a:moveTo>
                  <a:pt x="0" y="0"/>
                </a:moveTo>
                <a:lnTo>
                  <a:pt x="7604289" y="0"/>
                </a:lnTo>
                <a:lnTo>
                  <a:pt x="7604289" y="323205"/>
                </a:lnTo>
                <a:lnTo>
                  <a:pt x="0" y="323205"/>
                </a:lnTo>
                <a:lnTo>
                  <a:pt x="0" y="0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1" name="Shape 28"/>
          <p:cNvSpPr/>
          <p:nvPr/>
        </p:nvSpPr>
        <p:spPr>
          <a:xfrm>
            <a:off x="7985590" y="923338"/>
            <a:ext cx="179558" cy="143647"/>
          </a:xfrm>
          <a:custGeom>
            <a:avLst/>
            <a:gdLst/>
            <a:ahLst/>
            <a:cxnLst/>
            <a:rect l="l" t="t" r="r" b="b"/>
            <a:pathLst>
              <a:path w="179558" h="143647">
                <a:moveTo>
                  <a:pt x="98757" y="0"/>
                </a:moveTo>
                <a:cubicBezTo>
                  <a:pt x="98757" y="-4966"/>
                  <a:pt x="94745" y="-8978"/>
                  <a:pt x="89779" y="-8978"/>
                </a:cubicBezTo>
                <a:cubicBezTo>
                  <a:pt x="84813" y="-8978"/>
                  <a:pt x="80801" y="-4966"/>
                  <a:pt x="80801" y="0"/>
                </a:cubicBezTo>
                <a:lnTo>
                  <a:pt x="80801" y="17956"/>
                </a:lnTo>
                <a:lnTo>
                  <a:pt x="53867" y="17956"/>
                </a:lnTo>
                <a:cubicBezTo>
                  <a:pt x="38998" y="17956"/>
                  <a:pt x="26934" y="30020"/>
                  <a:pt x="26934" y="44890"/>
                </a:cubicBezTo>
                <a:lnTo>
                  <a:pt x="26934" y="107735"/>
                </a:lnTo>
                <a:cubicBezTo>
                  <a:pt x="26934" y="122605"/>
                  <a:pt x="38998" y="134669"/>
                  <a:pt x="53867" y="134669"/>
                </a:cubicBezTo>
                <a:lnTo>
                  <a:pt x="125691" y="134669"/>
                </a:lnTo>
                <a:cubicBezTo>
                  <a:pt x="140560" y="134669"/>
                  <a:pt x="152624" y="122605"/>
                  <a:pt x="152624" y="107735"/>
                </a:cubicBezTo>
                <a:lnTo>
                  <a:pt x="152624" y="44890"/>
                </a:lnTo>
                <a:cubicBezTo>
                  <a:pt x="152624" y="30020"/>
                  <a:pt x="140560" y="17956"/>
                  <a:pt x="125691" y="17956"/>
                </a:cubicBezTo>
                <a:lnTo>
                  <a:pt x="98757" y="17956"/>
                </a:lnTo>
                <a:lnTo>
                  <a:pt x="98757" y="0"/>
                </a:lnTo>
                <a:close/>
                <a:moveTo>
                  <a:pt x="44890" y="103246"/>
                </a:moveTo>
                <a:cubicBezTo>
                  <a:pt x="44890" y="99515"/>
                  <a:pt x="47892" y="96513"/>
                  <a:pt x="51623" y="96513"/>
                </a:cubicBezTo>
                <a:lnTo>
                  <a:pt x="60601" y="96513"/>
                </a:lnTo>
                <a:cubicBezTo>
                  <a:pt x="64332" y="96513"/>
                  <a:pt x="67334" y="99515"/>
                  <a:pt x="67334" y="103246"/>
                </a:cubicBezTo>
                <a:cubicBezTo>
                  <a:pt x="67334" y="106977"/>
                  <a:pt x="64332" y="109979"/>
                  <a:pt x="60601" y="109979"/>
                </a:cubicBezTo>
                <a:lnTo>
                  <a:pt x="51623" y="109979"/>
                </a:lnTo>
                <a:cubicBezTo>
                  <a:pt x="47892" y="109979"/>
                  <a:pt x="44890" y="106977"/>
                  <a:pt x="44890" y="103246"/>
                </a:cubicBezTo>
                <a:close/>
                <a:moveTo>
                  <a:pt x="78557" y="103246"/>
                </a:moveTo>
                <a:cubicBezTo>
                  <a:pt x="78557" y="99515"/>
                  <a:pt x="81559" y="96513"/>
                  <a:pt x="85290" y="96513"/>
                </a:cubicBezTo>
                <a:lnTo>
                  <a:pt x="94268" y="96513"/>
                </a:lnTo>
                <a:cubicBezTo>
                  <a:pt x="97999" y="96513"/>
                  <a:pt x="101001" y="99515"/>
                  <a:pt x="101001" y="103246"/>
                </a:cubicBezTo>
                <a:cubicBezTo>
                  <a:pt x="101001" y="106977"/>
                  <a:pt x="97999" y="109979"/>
                  <a:pt x="94268" y="109979"/>
                </a:cubicBezTo>
                <a:lnTo>
                  <a:pt x="85290" y="109979"/>
                </a:lnTo>
                <a:cubicBezTo>
                  <a:pt x="81559" y="109979"/>
                  <a:pt x="78557" y="106977"/>
                  <a:pt x="78557" y="103246"/>
                </a:cubicBezTo>
                <a:close/>
                <a:moveTo>
                  <a:pt x="112224" y="103246"/>
                </a:moveTo>
                <a:cubicBezTo>
                  <a:pt x="112224" y="99515"/>
                  <a:pt x="115226" y="96513"/>
                  <a:pt x="118957" y="96513"/>
                </a:cubicBezTo>
                <a:lnTo>
                  <a:pt x="127935" y="96513"/>
                </a:lnTo>
                <a:cubicBezTo>
                  <a:pt x="131667" y="96513"/>
                  <a:pt x="134669" y="99515"/>
                  <a:pt x="134669" y="103246"/>
                </a:cubicBezTo>
                <a:cubicBezTo>
                  <a:pt x="134669" y="106977"/>
                  <a:pt x="131667" y="109979"/>
                  <a:pt x="127935" y="109979"/>
                </a:cubicBezTo>
                <a:lnTo>
                  <a:pt x="118957" y="109979"/>
                </a:lnTo>
                <a:cubicBezTo>
                  <a:pt x="115226" y="109979"/>
                  <a:pt x="112224" y="106977"/>
                  <a:pt x="112224" y="103246"/>
                </a:cubicBezTo>
                <a:close/>
                <a:moveTo>
                  <a:pt x="62845" y="49378"/>
                </a:moveTo>
                <a:cubicBezTo>
                  <a:pt x="70278" y="49378"/>
                  <a:pt x="76312" y="55413"/>
                  <a:pt x="76312" y="62845"/>
                </a:cubicBezTo>
                <a:cubicBezTo>
                  <a:pt x="76312" y="70278"/>
                  <a:pt x="70278" y="76312"/>
                  <a:pt x="62845" y="76312"/>
                </a:cubicBezTo>
                <a:cubicBezTo>
                  <a:pt x="55413" y="76312"/>
                  <a:pt x="49378" y="70278"/>
                  <a:pt x="49378" y="62845"/>
                </a:cubicBezTo>
                <a:cubicBezTo>
                  <a:pt x="49378" y="55413"/>
                  <a:pt x="55413" y="49378"/>
                  <a:pt x="62845" y="49378"/>
                </a:cubicBezTo>
                <a:close/>
                <a:moveTo>
                  <a:pt x="103246" y="62845"/>
                </a:moveTo>
                <a:cubicBezTo>
                  <a:pt x="103246" y="55413"/>
                  <a:pt x="109280" y="49378"/>
                  <a:pt x="116713" y="49378"/>
                </a:cubicBezTo>
                <a:cubicBezTo>
                  <a:pt x="124145" y="49378"/>
                  <a:pt x="130180" y="55413"/>
                  <a:pt x="130180" y="62845"/>
                </a:cubicBezTo>
                <a:cubicBezTo>
                  <a:pt x="130180" y="70278"/>
                  <a:pt x="124145" y="76312"/>
                  <a:pt x="116713" y="76312"/>
                </a:cubicBezTo>
                <a:cubicBezTo>
                  <a:pt x="109280" y="76312"/>
                  <a:pt x="103246" y="70278"/>
                  <a:pt x="103246" y="62845"/>
                </a:cubicBezTo>
                <a:close/>
                <a:moveTo>
                  <a:pt x="17956" y="62845"/>
                </a:moveTo>
                <a:cubicBezTo>
                  <a:pt x="17956" y="57879"/>
                  <a:pt x="13944" y="53867"/>
                  <a:pt x="8978" y="53867"/>
                </a:cubicBezTo>
                <a:cubicBezTo>
                  <a:pt x="4012" y="53867"/>
                  <a:pt x="0" y="57879"/>
                  <a:pt x="0" y="62845"/>
                </a:cubicBezTo>
                <a:lnTo>
                  <a:pt x="0" y="89779"/>
                </a:lnTo>
                <a:cubicBezTo>
                  <a:pt x="0" y="94745"/>
                  <a:pt x="4012" y="98757"/>
                  <a:pt x="8978" y="98757"/>
                </a:cubicBezTo>
                <a:cubicBezTo>
                  <a:pt x="13944" y="98757"/>
                  <a:pt x="17956" y="94745"/>
                  <a:pt x="17956" y="89779"/>
                </a:cubicBezTo>
                <a:lnTo>
                  <a:pt x="17956" y="62845"/>
                </a:lnTo>
                <a:close/>
                <a:moveTo>
                  <a:pt x="170580" y="53867"/>
                </a:moveTo>
                <a:cubicBezTo>
                  <a:pt x="165614" y="53867"/>
                  <a:pt x="161602" y="57879"/>
                  <a:pt x="161602" y="62845"/>
                </a:cubicBezTo>
                <a:lnTo>
                  <a:pt x="161602" y="89779"/>
                </a:lnTo>
                <a:cubicBezTo>
                  <a:pt x="161602" y="94745"/>
                  <a:pt x="165614" y="98757"/>
                  <a:pt x="170580" y="98757"/>
                </a:cubicBezTo>
                <a:cubicBezTo>
                  <a:pt x="175546" y="98757"/>
                  <a:pt x="179558" y="94745"/>
                  <a:pt x="179558" y="89779"/>
                </a:cubicBezTo>
                <a:lnTo>
                  <a:pt x="179558" y="62845"/>
                </a:lnTo>
                <a:cubicBezTo>
                  <a:pt x="179558" y="57879"/>
                  <a:pt x="175546" y="53867"/>
                  <a:pt x="170580" y="538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8231068" y="905382"/>
            <a:ext cx="172375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AI-GENERATED Image Report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4322021" y="5189231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95503" y="59675"/>
                </a:moveTo>
                <a:lnTo>
                  <a:pt x="73058" y="95587"/>
                </a:lnTo>
                <a:cubicBezTo>
                  <a:pt x="71879" y="97466"/>
                  <a:pt x="69859" y="98645"/>
                  <a:pt x="67643" y="98757"/>
                </a:cubicBezTo>
                <a:cubicBezTo>
                  <a:pt x="65427" y="98869"/>
                  <a:pt x="63294" y="97859"/>
                  <a:pt x="61976" y="96064"/>
                </a:cubicBezTo>
                <a:lnTo>
                  <a:pt x="48509" y="78108"/>
                </a:lnTo>
                <a:cubicBezTo>
                  <a:pt x="46264" y="75134"/>
                  <a:pt x="46882" y="70925"/>
                  <a:pt x="49855" y="68681"/>
                </a:cubicBezTo>
                <a:cubicBezTo>
                  <a:pt x="52829" y="66437"/>
                  <a:pt x="57038" y="67054"/>
                  <a:pt x="59282" y="70028"/>
                </a:cubicBezTo>
                <a:lnTo>
                  <a:pt x="66857" y="80128"/>
                </a:lnTo>
                <a:lnTo>
                  <a:pt x="84084" y="52549"/>
                </a:lnTo>
                <a:cubicBezTo>
                  <a:pt x="86048" y="49407"/>
                  <a:pt x="90200" y="48425"/>
                  <a:pt x="93370" y="50417"/>
                </a:cubicBezTo>
                <a:cubicBezTo>
                  <a:pt x="96541" y="52409"/>
                  <a:pt x="97494" y="56533"/>
                  <a:pt x="95503" y="597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668" y="1194414"/>
            <a:ext cx="3395633" cy="5307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793" y="1194414"/>
            <a:ext cx="4178560" cy="5444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4572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Improvements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0525" y="1571625"/>
            <a:ext cx="5543550" cy="4895850"/>
          </a:xfrm>
          <a:custGeom>
            <a:avLst/>
            <a:gdLst/>
            <a:ahLst/>
            <a:cxnLst/>
            <a:rect l="l" t="t" r="r" b="b"/>
            <a:pathLst>
              <a:path w="5543550" h="4895850">
                <a:moveTo>
                  <a:pt x="152408" y="0"/>
                </a:moveTo>
                <a:lnTo>
                  <a:pt x="5391142" y="0"/>
                </a:lnTo>
                <a:cubicBezTo>
                  <a:pt x="5475315" y="0"/>
                  <a:pt x="5543550" y="68235"/>
                  <a:pt x="5543550" y="152408"/>
                </a:cubicBezTo>
                <a:lnTo>
                  <a:pt x="5543550" y="4743442"/>
                </a:lnTo>
                <a:cubicBezTo>
                  <a:pt x="5543550" y="4827615"/>
                  <a:pt x="5475315" y="4895850"/>
                  <a:pt x="5391142" y="4895850"/>
                </a:cubicBezTo>
                <a:lnTo>
                  <a:pt x="152408" y="4895850"/>
                </a:lnTo>
                <a:cubicBezTo>
                  <a:pt x="68235" y="4895850"/>
                  <a:pt x="0" y="4827615"/>
                  <a:pt x="0" y="474344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EF4444">
              <a:alpha val="5098"/>
            </a:srgbClr>
          </a:solidFill>
          <a:ln w="254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850" y="1885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1297" y="20478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35719"/>
                </a:moveTo>
                <a:cubicBezTo>
                  <a:pt x="219894" y="35719"/>
                  <a:pt x="267891" y="83716"/>
                  <a:pt x="267891" y="142875"/>
                </a:cubicBezTo>
                <a:cubicBezTo>
                  <a:pt x="267891" y="202034"/>
                  <a:pt x="219894" y="250031"/>
                  <a:pt x="160734" y="250031"/>
                </a:cubicBezTo>
                <a:cubicBezTo>
                  <a:pt x="124346" y="250031"/>
                  <a:pt x="92143" y="231893"/>
                  <a:pt x="72777" y="204099"/>
                </a:cubicBezTo>
                <a:cubicBezTo>
                  <a:pt x="67140" y="196007"/>
                  <a:pt x="55978" y="194053"/>
                  <a:pt x="47885" y="199690"/>
                </a:cubicBezTo>
                <a:cubicBezTo>
                  <a:pt x="39793" y="205327"/>
                  <a:pt x="37840" y="216489"/>
                  <a:pt x="43476" y="224582"/>
                </a:cubicBezTo>
                <a:cubicBezTo>
                  <a:pt x="69261" y="261528"/>
                  <a:pt x="112179" y="285750"/>
                  <a:pt x="160734" y="285750"/>
                </a:cubicBezTo>
                <a:cubicBezTo>
                  <a:pt x="239650" y="285750"/>
                  <a:pt x="303609" y="221791"/>
                  <a:pt x="303609" y="142875"/>
                </a:cubicBezTo>
                <a:cubicBezTo>
                  <a:pt x="303609" y="63959"/>
                  <a:pt x="239650" y="0"/>
                  <a:pt x="160734" y="0"/>
                </a:cubicBezTo>
                <a:cubicBezTo>
                  <a:pt x="112905" y="0"/>
                  <a:pt x="70600" y="23496"/>
                  <a:pt x="44648" y="59550"/>
                </a:cubicBezTo>
                <a:lnTo>
                  <a:pt x="44648" y="44648"/>
                </a:lnTo>
                <a:cubicBezTo>
                  <a:pt x="44648" y="34770"/>
                  <a:pt x="36668" y="26789"/>
                  <a:pt x="26789" y="26789"/>
                </a:cubicBezTo>
                <a:cubicBezTo>
                  <a:pt x="16911" y="26789"/>
                  <a:pt x="8930" y="34770"/>
                  <a:pt x="8930" y="44648"/>
                </a:cubicBezTo>
                <a:lnTo>
                  <a:pt x="8930" y="107156"/>
                </a:lnTo>
                <a:cubicBezTo>
                  <a:pt x="8930" y="117035"/>
                  <a:pt x="16911" y="125016"/>
                  <a:pt x="26789" y="125016"/>
                </a:cubicBezTo>
                <a:lnTo>
                  <a:pt x="40518" y="125016"/>
                </a:lnTo>
                <a:cubicBezTo>
                  <a:pt x="40798" y="125016"/>
                  <a:pt x="41077" y="125016"/>
                  <a:pt x="41356" y="125016"/>
                </a:cubicBezTo>
                <a:lnTo>
                  <a:pt x="89353" y="125016"/>
                </a:lnTo>
                <a:cubicBezTo>
                  <a:pt x="99231" y="125016"/>
                  <a:pt x="107212" y="117035"/>
                  <a:pt x="107212" y="107156"/>
                </a:cubicBezTo>
                <a:cubicBezTo>
                  <a:pt x="107212" y="97278"/>
                  <a:pt x="99231" y="89297"/>
                  <a:pt x="89353" y="89297"/>
                </a:cubicBezTo>
                <a:lnTo>
                  <a:pt x="67977" y="89297"/>
                </a:lnTo>
                <a:cubicBezTo>
                  <a:pt x="86451" y="57262"/>
                  <a:pt x="121109" y="35719"/>
                  <a:pt x="160734" y="35719"/>
                </a:cubicBezTo>
                <a:close/>
                <a:moveTo>
                  <a:pt x="174129" y="84832"/>
                </a:moveTo>
                <a:cubicBezTo>
                  <a:pt x="174129" y="77409"/>
                  <a:pt x="168157" y="71438"/>
                  <a:pt x="160734" y="71438"/>
                </a:cubicBezTo>
                <a:cubicBezTo>
                  <a:pt x="153312" y="71438"/>
                  <a:pt x="147340" y="77409"/>
                  <a:pt x="147340" y="84832"/>
                </a:cubicBezTo>
                <a:lnTo>
                  <a:pt x="147340" y="142875"/>
                </a:lnTo>
                <a:cubicBezTo>
                  <a:pt x="147340" y="146447"/>
                  <a:pt x="148735" y="149851"/>
                  <a:pt x="151247" y="152363"/>
                </a:cubicBezTo>
                <a:lnTo>
                  <a:pt x="191430" y="192546"/>
                </a:lnTo>
                <a:cubicBezTo>
                  <a:pt x="196676" y="197793"/>
                  <a:pt x="205160" y="197793"/>
                  <a:pt x="210350" y="192546"/>
                </a:cubicBezTo>
                <a:cubicBezTo>
                  <a:pt x="215540" y="187300"/>
                  <a:pt x="215596" y="178817"/>
                  <a:pt x="210350" y="173627"/>
                </a:cubicBezTo>
                <a:lnTo>
                  <a:pt x="174073" y="137350"/>
                </a:lnTo>
                <a:lnTo>
                  <a:pt x="174073" y="84832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466850" y="2019300"/>
            <a:ext cx="1066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F444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Earlier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850" y="2724150"/>
            <a:ext cx="4914900" cy="1295400"/>
          </a:xfrm>
          <a:custGeom>
            <a:avLst/>
            <a:gdLst/>
            <a:ahLst/>
            <a:cxnLst/>
            <a:rect l="l" t="t" r="r" b="b"/>
            <a:pathLst>
              <a:path w="4914900" h="1295400">
                <a:moveTo>
                  <a:pt x="114306" y="0"/>
                </a:moveTo>
                <a:lnTo>
                  <a:pt x="4800594" y="0"/>
                </a:lnTo>
                <a:cubicBezTo>
                  <a:pt x="4863723" y="0"/>
                  <a:pt x="4914900" y="51177"/>
                  <a:pt x="4914900" y="114306"/>
                </a:cubicBezTo>
                <a:lnTo>
                  <a:pt x="4914900" y="1181094"/>
                </a:lnTo>
                <a:cubicBezTo>
                  <a:pt x="4914900" y="1244223"/>
                  <a:pt x="4863723" y="1295400"/>
                  <a:pt x="4800594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3450" y="3143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0613" y="3276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0501" y="27310"/>
                </a:moveTo>
                <a:cubicBezTo>
                  <a:pt x="15850" y="22659"/>
                  <a:pt x="8297" y="22659"/>
                  <a:pt x="3646" y="27310"/>
                </a:cubicBezTo>
                <a:cubicBezTo>
                  <a:pt x="-1005" y="31961"/>
                  <a:pt x="-1005" y="39514"/>
                  <a:pt x="3646" y="44165"/>
                </a:cubicBezTo>
                <a:lnTo>
                  <a:pt x="54769" y="95250"/>
                </a:lnTo>
                <a:lnTo>
                  <a:pt x="3683" y="146372"/>
                </a:lnTo>
                <a:cubicBezTo>
                  <a:pt x="-967" y="151023"/>
                  <a:pt x="-967" y="158576"/>
                  <a:pt x="3683" y="163227"/>
                </a:cubicBezTo>
                <a:cubicBezTo>
                  <a:pt x="8334" y="167878"/>
                  <a:pt x="15887" y="167878"/>
                  <a:pt x="20538" y="163227"/>
                </a:cubicBezTo>
                <a:lnTo>
                  <a:pt x="71624" y="112105"/>
                </a:lnTo>
                <a:lnTo>
                  <a:pt x="122746" y="163190"/>
                </a:lnTo>
                <a:cubicBezTo>
                  <a:pt x="127397" y="167841"/>
                  <a:pt x="134950" y="167841"/>
                  <a:pt x="139601" y="163190"/>
                </a:cubicBezTo>
                <a:cubicBezTo>
                  <a:pt x="144252" y="158539"/>
                  <a:pt x="144252" y="150986"/>
                  <a:pt x="139601" y="146335"/>
                </a:cubicBezTo>
                <a:lnTo>
                  <a:pt x="88478" y="95250"/>
                </a:lnTo>
                <a:lnTo>
                  <a:pt x="139564" y="44128"/>
                </a:lnTo>
                <a:cubicBezTo>
                  <a:pt x="144214" y="39477"/>
                  <a:pt x="144214" y="31924"/>
                  <a:pt x="139564" y="27273"/>
                </a:cubicBezTo>
                <a:cubicBezTo>
                  <a:pt x="134913" y="22622"/>
                  <a:pt x="127360" y="22622"/>
                  <a:pt x="122709" y="27273"/>
                </a:cubicBezTo>
                <a:lnTo>
                  <a:pt x="71624" y="78395"/>
                </a:lnTo>
                <a:lnTo>
                  <a:pt x="20501" y="27310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543050" y="2952750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Scope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43050" y="3257550"/>
            <a:ext cx="39338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model training was completed without testing or deployment.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57925" y="1571625"/>
            <a:ext cx="5543550" cy="4895850"/>
          </a:xfrm>
          <a:custGeom>
            <a:avLst/>
            <a:gdLst/>
            <a:ahLst/>
            <a:cxnLst/>
            <a:rect l="l" t="t" r="r" b="b"/>
            <a:pathLst>
              <a:path w="5543550" h="4895850">
                <a:moveTo>
                  <a:pt x="152408" y="0"/>
                </a:moveTo>
                <a:lnTo>
                  <a:pt x="5391142" y="0"/>
                </a:lnTo>
                <a:cubicBezTo>
                  <a:pt x="5475315" y="0"/>
                  <a:pt x="5543550" y="68235"/>
                  <a:pt x="5543550" y="152408"/>
                </a:cubicBezTo>
                <a:lnTo>
                  <a:pt x="5543550" y="4743442"/>
                </a:lnTo>
                <a:cubicBezTo>
                  <a:pt x="5543550" y="4827615"/>
                  <a:pt x="5475315" y="4895850"/>
                  <a:pt x="5391142" y="4895850"/>
                </a:cubicBezTo>
                <a:lnTo>
                  <a:pt x="152408" y="4895850"/>
                </a:lnTo>
                <a:cubicBezTo>
                  <a:pt x="68235" y="4895850"/>
                  <a:pt x="0" y="4827615"/>
                  <a:pt x="0" y="474344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 w="254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72250" y="1885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736556" y="2047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34250" y="2019300"/>
            <a:ext cx="781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72250" y="2724150"/>
            <a:ext cx="4914900" cy="685800"/>
          </a:xfrm>
          <a:custGeom>
            <a:avLst/>
            <a:gdLst/>
            <a:ahLst/>
            <a:cxnLst/>
            <a:rect l="l" t="t" r="r" b="b"/>
            <a:pathLst>
              <a:path w="4914900" h="685800">
                <a:moveTo>
                  <a:pt x="114302" y="0"/>
                </a:moveTo>
                <a:lnTo>
                  <a:pt x="4800598" y="0"/>
                </a:lnTo>
                <a:cubicBezTo>
                  <a:pt x="4863683" y="0"/>
                  <a:pt x="4914900" y="51217"/>
                  <a:pt x="4914900" y="114302"/>
                </a:cubicBezTo>
                <a:lnTo>
                  <a:pt x="4914900" y="571498"/>
                </a:lnTo>
                <a:cubicBezTo>
                  <a:pt x="4914900" y="634583"/>
                  <a:pt x="4863683" y="685800"/>
                  <a:pt x="48005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4650" y="2876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48475" y="2990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219950" y="29337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testing completed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72250" y="3562350"/>
            <a:ext cx="4914900" cy="685800"/>
          </a:xfrm>
          <a:custGeom>
            <a:avLst/>
            <a:gdLst/>
            <a:ahLst/>
            <a:cxnLst/>
            <a:rect l="l" t="t" r="r" b="b"/>
            <a:pathLst>
              <a:path w="4914900" h="685800">
                <a:moveTo>
                  <a:pt x="114302" y="0"/>
                </a:moveTo>
                <a:lnTo>
                  <a:pt x="4800598" y="0"/>
                </a:lnTo>
                <a:cubicBezTo>
                  <a:pt x="4863683" y="0"/>
                  <a:pt x="4914900" y="51217"/>
                  <a:pt x="4914900" y="114302"/>
                </a:cubicBezTo>
                <a:lnTo>
                  <a:pt x="4914900" y="571498"/>
                </a:lnTo>
                <a:cubicBezTo>
                  <a:pt x="4914900" y="634583"/>
                  <a:pt x="4863683" y="685800"/>
                  <a:pt x="48005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4650" y="3714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848475" y="3829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219950" y="3771900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predictions implemented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72250" y="4400550"/>
            <a:ext cx="4914900" cy="685800"/>
          </a:xfrm>
          <a:custGeom>
            <a:avLst/>
            <a:gdLst/>
            <a:ahLst/>
            <a:cxnLst/>
            <a:rect l="l" t="t" r="r" b="b"/>
            <a:pathLst>
              <a:path w="4914900" h="685800">
                <a:moveTo>
                  <a:pt x="114302" y="0"/>
                </a:moveTo>
                <a:lnTo>
                  <a:pt x="4800598" y="0"/>
                </a:lnTo>
                <a:cubicBezTo>
                  <a:pt x="4863683" y="0"/>
                  <a:pt x="4914900" y="51217"/>
                  <a:pt x="4914900" y="114302"/>
                </a:cubicBezTo>
                <a:lnTo>
                  <a:pt x="4914900" y="571498"/>
                </a:lnTo>
                <a:cubicBezTo>
                  <a:pt x="4914900" y="634583"/>
                  <a:pt x="4863683" y="685800"/>
                  <a:pt x="48005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4650" y="4552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848475" y="4667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7219950" y="461010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Gradio interface added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72250" y="5238750"/>
            <a:ext cx="4914900" cy="685800"/>
          </a:xfrm>
          <a:custGeom>
            <a:avLst/>
            <a:gdLst/>
            <a:ahLst/>
            <a:cxnLst/>
            <a:rect l="l" t="t" r="r" b="b"/>
            <a:pathLst>
              <a:path w="4914900" h="685800">
                <a:moveTo>
                  <a:pt x="114302" y="0"/>
                </a:moveTo>
                <a:lnTo>
                  <a:pt x="4800598" y="0"/>
                </a:lnTo>
                <a:cubicBezTo>
                  <a:pt x="4863683" y="0"/>
                  <a:pt x="4914900" y="51217"/>
                  <a:pt x="4914900" y="114302"/>
                </a:cubicBezTo>
                <a:lnTo>
                  <a:pt x="4914900" y="571498"/>
                </a:lnTo>
                <a:cubicBezTo>
                  <a:pt x="4914900" y="634583"/>
                  <a:pt x="4863683" y="685800"/>
                  <a:pt x="48005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24650" y="5391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848475" y="5505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7219950" y="5448300"/>
            <a:ext cx="246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generation implemented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45720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Challenges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1000" y="1581150"/>
            <a:ext cx="3686175" cy="2371725"/>
          </a:xfrm>
          <a:custGeom>
            <a:avLst/>
            <a:gdLst/>
            <a:ahLst/>
            <a:cxnLst/>
            <a:rect l="l" t="t" r="r" b="b"/>
            <a:pathLst>
              <a:path w="3686175" h="2371725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257432"/>
                </a:lnTo>
                <a:cubicBezTo>
                  <a:pt x="3686175" y="2320512"/>
                  <a:pt x="3634962" y="2371725"/>
                  <a:pt x="35718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5811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1766" y="19907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25908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Quality Issues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9718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Ensuring high-quality, balanced dataset with diverse real and AI-generated samples.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4500" y="1581150"/>
            <a:ext cx="3686175" cy="2371725"/>
          </a:xfrm>
          <a:custGeom>
            <a:avLst/>
            <a:gdLst/>
            <a:ahLst/>
            <a:cxnLst/>
            <a:rect l="l" t="t" r="r" b="b"/>
            <a:pathLst>
              <a:path w="3686175" h="2371725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257432"/>
                </a:lnTo>
                <a:cubicBezTo>
                  <a:pt x="3686175" y="2320512"/>
                  <a:pt x="3634962" y="2371725"/>
                  <a:pt x="35718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4500" y="15811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3100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647406" y="1990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483100" y="25908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3100" y="29718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Preventing model from memorizing training data instead of learning general patterns.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1581150"/>
            <a:ext cx="3686175" cy="2371725"/>
          </a:xfrm>
          <a:custGeom>
            <a:avLst/>
            <a:gdLst/>
            <a:ahLst/>
            <a:cxnLst/>
            <a:rect l="l" t="t" r="r" b="b"/>
            <a:pathLst>
              <a:path w="3686175" h="2371725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257432"/>
                </a:lnTo>
                <a:cubicBezTo>
                  <a:pt x="3686175" y="2320512"/>
                  <a:pt x="3634962" y="2371725"/>
                  <a:pt x="35718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28000" y="15811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8356600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38766" y="19907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93762" y="17859"/>
                </a:moveTo>
                <a:lnTo>
                  <a:pt x="13395" y="17859"/>
                </a:lnTo>
                <a:cubicBezTo>
                  <a:pt x="5972" y="17859"/>
                  <a:pt x="0" y="23831"/>
                  <a:pt x="0" y="31254"/>
                </a:cubicBezTo>
                <a:lnTo>
                  <a:pt x="0" y="111621"/>
                </a:lnTo>
                <a:cubicBezTo>
                  <a:pt x="0" y="117035"/>
                  <a:pt x="3237" y="121946"/>
                  <a:pt x="8260" y="124011"/>
                </a:cubicBezTo>
                <a:cubicBezTo>
                  <a:pt x="13283" y="126076"/>
                  <a:pt x="19031" y="124904"/>
                  <a:pt x="22882" y="121109"/>
                </a:cubicBezTo>
                <a:lnTo>
                  <a:pt x="45207" y="98785"/>
                </a:lnTo>
                <a:lnTo>
                  <a:pt x="89297" y="142875"/>
                </a:lnTo>
                <a:lnTo>
                  <a:pt x="45207" y="186965"/>
                </a:lnTo>
                <a:lnTo>
                  <a:pt x="22882" y="164641"/>
                </a:lnTo>
                <a:cubicBezTo>
                  <a:pt x="19031" y="160790"/>
                  <a:pt x="13283" y="159674"/>
                  <a:pt x="8260" y="161739"/>
                </a:cubicBezTo>
                <a:cubicBezTo>
                  <a:pt x="3237" y="163804"/>
                  <a:pt x="0" y="168715"/>
                  <a:pt x="0" y="174129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lnTo>
                  <a:pt x="93762" y="267891"/>
                </a:lnTo>
                <a:cubicBezTo>
                  <a:pt x="99175" y="267891"/>
                  <a:pt x="104087" y="264654"/>
                  <a:pt x="106152" y="259631"/>
                </a:cubicBezTo>
                <a:cubicBezTo>
                  <a:pt x="108217" y="254608"/>
                  <a:pt x="107100" y="248859"/>
                  <a:pt x="103250" y="245008"/>
                </a:cubicBezTo>
                <a:lnTo>
                  <a:pt x="80925" y="222684"/>
                </a:lnTo>
                <a:lnTo>
                  <a:pt x="125016" y="178594"/>
                </a:lnTo>
                <a:lnTo>
                  <a:pt x="169106" y="222684"/>
                </a:lnTo>
                <a:lnTo>
                  <a:pt x="146782" y="245008"/>
                </a:lnTo>
                <a:cubicBezTo>
                  <a:pt x="142931" y="248859"/>
                  <a:pt x="141815" y="254608"/>
                  <a:pt x="143880" y="259631"/>
                </a:cubicBezTo>
                <a:cubicBezTo>
                  <a:pt x="145945" y="264654"/>
                  <a:pt x="150856" y="267891"/>
                  <a:pt x="156270" y="267891"/>
                </a:cubicBezTo>
                <a:lnTo>
                  <a:pt x="236637" y="267891"/>
                </a:lnTo>
                <a:cubicBezTo>
                  <a:pt x="244060" y="267891"/>
                  <a:pt x="250031" y="261919"/>
                  <a:pt x="250031" y="254496"/>
                </a:cubicBezTo>
                <a:lnTo>
                  <a:pt x="250031" y="174129"/>
                </a:lnTo>
                <a:cubicBezTo>
                  <a:pt x="250031" y="168715"/>
                  <a:pt x="246794" y="163804"/>
                  <a:pt x="241771" y="161739"/>
                </a:cubicBezTo>
                <a:cubicBezTo>
                  <a:pt x="236748" y="159674"/>
                  <a:pt x="231000" y="160790"/>
                  <a:pt x="227149" y="164641"/>
                </a:cubicBezTo>
                <a:lnTo>
                  <a:pt x="204825" y="186965"/>
                </a:lnTo>
                <a:lnTo>
                  <a:pt x="160734" y="142875"/>
                </a:lnTo>
                <a:lnTo>
                  <a:pt x="204825" y="98785"/>
                </a:lnTo>
                <a:lnTo>
                  <a:pt x="227149" y="121109"/>
                </a:lnTo>
                <a:cubicBezTo>
                  <a:pt x="231000" y="124960"/>
                  <a:pt x="236748" y="126076"/>
                  <a:pt x="241771" y="124011"/>
                </a:cubicBezTo>
                <a:cubicBezTo>
                  <a:pt x="246794" y="121946"/>
                  <a:pt x="250031" y="117035"/>
                  <a:pt x="250031" y="111621"/>
                </a:cubicBezTo>
                <a:lnTo>
                  <a:pt x="250031" y="31254"/>
                </a:lnTo>
                <a:cubicBezTo>
                  <a:pt x="250031" y="23831"/>
                  <a:pt x="244060" y="17859"/>
                  <a:pt x="236637" y="17859"/>
                </a:cubicBezTo>
                <a:lnTo>
                  <a:pt x="156270" y="17859"/>
                </a:lnTo>
                <a:cubicBezTo>
                  <a:pt x="150856" y="17859"/>
                  <a:pt x="145945" y="21096"/>
                  <a:pt x="143880" y="26119"/>
                </a:cubicBezTo>
                <a:cubicBezTo>
                  <a:pt x="141815" y="31142"/>
                  <a:pt x="142987" y="36891"/>
                  <a:pt x="146782" y="40742"/>
                </a:cubicBezTo>
                <a:lnTo>
                  <a:pt x="169106" y="63066"/>
                </a:lnTo>
                <a:lnTo>
                  <a:pt x="125016" y="107156"/>
                </a:lnTo>
                <a:lnTo>
                  <a:pt x="80925" y="63066"/>
                </a:lnTo>
                <a:lnTo>
                  <a:pt x="103250" y="40742"/>
                </a:lnTo>
                <a:cubicBezTo>
                  <a:pt x="107100" y="36891"/>
                  <a:pt x="108217" y="31142"/>
                  <a:pt x="106152" y="26119"/>
                </a:cubicBezTo>
                <a:cubicBezTo>
                  <a:pt x="104087" y="21096"/>
                  <a:pt x="99175" y="17859"/>
                  <a:pt x="93762" y="17859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8356600" y="25908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Size Selection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6600" y="2971800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Choosing optimal input dimensions balancing detail preservation and computational efficiency.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4163616"/>
            <a:ext cx="3686175" cy="2314575"/>
          </a:xfrm>
          <a:custGeom>
            <a:avLst/>
            <a:gdLst/>
            <a:ahLst/>
            <a:cxnLst/>
            <a:rect l="l" t="t" r="r" b="b"/>
            <a:pathLst>
              <a:path w="3686175" h="2314575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00281"/>
                </a:lnTo>
                <a:cubicBezTo>
                  <a:pt x="3686175" y="2263362"/>
                  <a:pt x="3634962" y="2314575"/>
                  <a:pt x="3571881" y="2314575"/>
                </a:cubicBezTo>
                <a:lnTo>
                  <a:pt x="114294" y="2314575"/>
                </a:lnTo>
                <a:cubicBezTo>
                  <a:pt x="51213" y="2314575"/>
                  <a:pt x="0" y="2263362"/>
                  <a:pt x="0" y="220028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1000" y="4163616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600" y="441126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73906" y="457319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09600" y="5173266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Predictions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9600" y="5554266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Interpreting model decisions and explaining why certain classifications were made.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54500" y="4163616"/>
            <a:ext cx="3686175" cy="2314575"/>
          </a:xfrm>
          <a:custGeom>
            <a:avLst/>
            <a:gdLst/>
            <a:ahLst/>
            <a:cxnLst/>
            <a:rect l="l" t="t" r="r" b="b"/>
            <a:pathLst>
              <a:path w="3686175" h="2314575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00281"/>
                </a:lnTo>
                <a:cubicBezTo>
                  <a:pt x="3686175" y="2263362"/>
                  <a:pt x="3634962" y="2314575"/>
                  <a:pt x="3571881" y="2314575"/>
                </a:cubicBezTo>
                <a:lnTo>
                  <a:pt x="114294" y="2314575"/>
                </a:lnTo>
                <a:cubicBezTo>
                  <a:pt x="51213" y="2314575"/>
                  <a:pt x="0" y="2263362"/>
                  <a:pt x="0" y="220028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54500" y="4163616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Shape 30"/>
          <p:cNvSpPr/>
          <p:nvPr/>
        </p:nvSpPr>
        <p:spPr>
          <a:xfrm>
            <a:off x="4483100" y="441126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47406" y="457319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483100" y="5173266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Integration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3100" y="5554266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Seamlessly integrating trained model with Gradio interface for user-friendly deployment.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92295" y="4988123"/>
            <a:ext cx="1952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13738" y="5407223"/>
            <a:ext cx="33147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04d34a919ff9ca74e5fa0c6894a23dd5c0fad6e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8" r="1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5351859" y="284169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18310" y="1204913"/>
            <a:ext cx="3352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Times New Roman" pitchFamily="18" charset="0"/>
                <a:ea typeface="Alimama ShuHeiTi" pitchFamily="34" charset="-122"/>
                <a:cs typeface="Times New Roman" pitchFamily="18" charset="0"/>
              </a:rPr>
              <a:t>Conclusion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771650" y="2224088"/>
            <a:ext cx="86487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project successfully demonstrates </a:t>
            </a: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AI-based image classification using CNN</a:t>
            </a: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model learns image patterns effectively and provides </a:t>
            </a: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predictions</a:t>
            </a: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a user-friendly interface. This system can help in detecting AI-generated content and improving </a:t>
            </a: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authenticity</a:t>
            </a: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37878" y="4170363"/>
            <a:ext cx="2149475" cy="1797050"/>
          </a:xfrm>
          <a:custGeom>
            <a:avLst/>
            <a:gdLst/>
            <a:ahLst/>
            <a:cxnLst/>
            <a:rect l="l" t="t" r="r" b="b"/>
            <a:pathLst>
              <a:path w="2149475" h="1797050">
                <a:moveTo>
                  <a:pt x="114292" y="0"/>
                </a:moveTo>
                <a:lnTo>
                  <a:pt x="2035183" y="0"/>
                </a:lnTo>
                <a:cubicBezTo>
                  <a:pt x="2098305" y="0"/>
                  <a:pt x="2149475" y="51170"/>
                  <a:pt x="2149475" y="114292"/>
                </a:cubicBezTo>
                <a:lnTo>
                  <a:pt x="2149475" y="1682758"/>
                </a:lnTo>
                <a:cubicBezTo>
                  <a:pt x="2149475" y="1745880"/>
                  <a:pt x="2098305" y="1797050"/>
                  <a:pt x="2035183" y="1797050"/>
                </a:cubicBezTo>
                <a:lnTo>
                  <a:pt x="114292" y="1797050"/>
                </a:lnTo>
                <a:cubicBezTo>
                  <a:pt x="51170" y="1797050"/>
                  <a:pt x="0" y="1745880"/>
                  <a:pt x="0" y="168275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8467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09502" y="44021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373809" y="456406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2" name="Text 9"/>
          <p:cNvSpPr/>
          <p:nvPr/>
        </p:nvSpPr>
        <p:spPr>
          <a:xfrm>
            <a:off x="1622028" y="5164141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 Model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31553" y="5507041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Effective feature learning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25677" y="4170363"/>
            <a:ext cx="2149475" cy="1797050"/>
          </a:xfrm>
          <a:custGeom>
            <a:avLst/>
            <a:gdLst/>
            <a:ahLst/>
            <a:cxnLst/>
            <a:rect l="l" t="t" r="r" b="b"/>
            <a:pathLst>
              <a:path w="2149475" h="1797050">
                <a:moveTo>
                  <a:pt x="114292" y="0"/>
                </a:moveTo>
                <a:lnTo>
                  <a:pt x="2035183" y="0"/>
                </a:lnTo>
                <a:cubicBezTo>
                  <a:pt x="2098305" y="0"/>
                  <a:pt x="2149475" y="51170"/>
                  <a:pt x="2149475" y="114292"/>
                </a:cubicBezTo>
                <a:lnTo>
                  <a:pt x="2149475" y="1682758"/>
                </a:lnTo>
                <a:cubicBezTo>
                  <a:pt x="2149475" y="1745880"/>
                  <a:pt x="2098305" y="1797050"/>
                  <a:pt x="2035183" y="1797050"/>
                </a:cubicBezTo>
                <a:lnTo>
                  <a:pt x="114292" y="1797050"/>
                </a:lnTo>
                <a:cubicBezTo>
                  <a:pt x="51170" y="1797050"/>
                  <a:pt x="0" y="1745880"/>
                  <a:pt x="0" y="168275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8467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97301" y="44021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79466" y="4564066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7" name="Text 14"/>
          <p:cNvSpPr/>
          <p:nvPr/>
        </p:nvSpPr>
        <p:spPr>
          <a:xfrm>
            <a:off x="4009827" y="5164141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19352" y="5507041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predictions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13475" y="4170363"/>
            <a:ext cx="2149475" cy="1797050"/>
          </a:xfrm>
          <a:custGeom>
            <a:avLst/>
            <a:gdLst/>
            <a:ahLst/>
            <a:cxnLst/>
            <a:rect l="l" t="t" r="r" b="b"/>
            <a:pathLst>
              <a:path w="2149475" h="1797050">
                <a:moveTo>
                  <a:pt x="114292" y="0"/>
                </a:moveTo>
                <a:lnTo>
                  <a:pt x="2035183" y="0"/>
                </a:lnTo>
                <a:cubicBezTo>
                  <a:pt x="2098305" y="0"/>
                  <a:pt x="2149475" y="51170"/>
                  <a:pt x="2149475" y="114292"/>
                </a:cubicBezTo>
                <a:lnTo>
                  <a:pt x="2149475" y="1682758"/>
                </a:lnTo>
                <a:cubicBezTo>
                  <a:pt x="2149475" y="1745880"/>
                  <a:pt x="2098305" y="1797050"/>
                  <a:pt x="2035183" y="1797050"/>
                </a:cubicBezTo>
                <a:lnTo>
                  <a:pt x="114292" y="1797050"/>
                </a:lnTo>
                <a:cubicBezTo>
                  <a:pt x="51170" y="1797050"/>
                  <a:pt x="0" y="1745880"/>
                  <a:pt x="0" y="168275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8467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85099" y="44021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149405" y="456406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22" name="Text 19"/>
          <p:cNvSpPr/>
          <p:nvPr/>
        </p:nvSpPr>
        <p:spPr>
          <a:xfrm>
            <a:off x="6397625" y="5164141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User-friendly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07150" y="5507041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Gradio interface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601273" y="4170363"/>
            <a:ext cx="2149475" cy="1797050"/>
          </a:xfrm>
          <a:custGeom>
            <a:avLst/>
            <a:gdLst/>
            <a:ahLst/>
            <a:cxnLst/>
            <a:rect l="l" t="t" r="r" b="b"/>
            <a:pathLst>
              <a:path w="2149475" h="1797050">
                <a:moveTo>
                  <a:pt x="114292" y="0"/>
                </a:moveTo>
                <a:lnTo>
                  <a:pt x="2035183" y="0"/>
                </a:lnTo>
                <a:cubicBezTo>
                  <a:pt x="2098305" y="0"/>
                  <a:pt x="2149475" y="51170"/>
                  <a:pt x="2149475" y="114292"/>
                </a:cubicBezTo>
                <a:lnTo>
                  <a:pt x="2149475" y="1682758"/>
                </a:lnTo>
                <a:cubicBezTo>
                  <a:pt x="2149475" y="1745880"/>
                  <a:pt x="2098305" y="1797050"/>
                  <a:pt x="2035183" y="1797050"/>
                </a:cubicBezTo>
                <a:lnTo>
                  <a:pt x="114292" y="1797050"/>
                </a:lnTo>
                <a:cubicBezTo>
                  <a:pt x="51170" y="1797050"/>
                  <a:pt x="0" y="1745880"/>
                  <a:pt x="0" y="168275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8467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72898" y="44021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9537204" y="456406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A78BFA"/>
          </a:solidFill>
          <a:ln/>
        </p:spPr>
      </p:sp>
      <p:sp>
        <p:nvSpPr>
          <p:cNvPr id="27" name="Text 24"/>
          <p:cNvSpPr/>
          <p:nvPr/>
        </p:nvSpPr>
        <p:spPr>
          <a:xfrm>
            <a:off x="8785424" y="5164141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Authenticity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794949" y="5507041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trust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997450" y="6427794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3" name="Rectangle 2"/>
          <p:cNvSpPr/>
          <p:nvPr/>
        </p:nvSpPr>
        <p:spPr>
          <a:xfrm>
            <a:off x="3619500" y="1943100"/>
            <a:ext cx="4953000" cy="190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Thank You </a:t>
            </a: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For Your Attention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8244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923</Words>
  <Application>Microsoft Office PowerPoint</Application>
  <PresentationFormat>Widescreen</PresentationFormat>
  <Paragraphs>220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Alimama ShuHeiTi</vt:lpstr>
      <vt:lpstr>Hedvig Letters Sans</vt:lpstr>
      <vt:lpstr>Arial</vt:lpstr>
      <vt:lpstr>Times New Roman</vt:lpstr>
      <vt:lpstr>Calibri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Image Authenticity Detection</dc:title>
  <dc:subject>AI Image Authenticity Detection</dc:subject>
  <dc:creator>Kimi</dc:creator>
  <cp:lastModifiedBy>Pasam Gopi</cp:lastModifiedBy>
  <cp:revision>9</cp:revision>
  <dcterms:created xsi:type="dcterms:W3CDTF">2026-03-31T22:44:41Z</dcterms:created>
  <dcterms:modified xsi:type="dcterms:W3CDTF">2026-04-02T06:52:55Z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Image Authenticity Detection","ContentProducer":"001191110108MACG2KBH8F10000","ProduceID":"19d4607a-e392-8f7b-8000-0000d21da220","ReservedCode1":"","ContentPropagator":"001191110108MACG2KBH8F20000","PropagateID":"19d4607a-e392-8f7b-8000-0000d</vt:lpwstr>
  </property>
</Properties>
</file>